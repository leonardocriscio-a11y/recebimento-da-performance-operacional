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edd8671-df90-655a-2b29-ca29d893a5f6}">
          <p14:sldIdLst>
            <p14:sldId id="256"/>
            <p14:sldId id="257"/>
            <p14:sldId id="258"/>
            <p14:sldId id="259"/>
          </p14:sldIdLst>
        </p14:section>
        <p14:section name="Crescimento da base" id="{3b864cdc-fb5d-2056-4858-7333d1f163d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sultado financeiro" id="{7e20fdd7-a175-78ea-5833-4e1be3874544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iscos e decisões" id="{0e754287-5249-6593-ddd2-dcb04da124df}">
          <p14:sldIdLst>
            <p14:sldId id="272"/>
            <p14:sldId id="273"/>
            <p14:sldId id="274"/>
            <p14:sldId id="275"/>
          </p14:sldIdLst>
        </p14:section>
        <p14:section name="Apêndice" id="{1761a602-565c-0ba8-446a-043083b0611c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3330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03330"/>
                </a:solidFill>
                <a:latin typeface="+mn-lt"/>
              </a:rPr>
              <a:t>Clientes pagantes no fim do mês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Contratos</c:v>
                </c:pt>
              </c:strCache>
            </c:strRef>
          </c:tx>
          <c:spPr>
            <a:solidFill>
              <a:srgbClr val="007535"/>
            </a:solidFill>
            <a:ln w="38100" cap="flat">
              <a:solidFill>
                <a:srgbClr val="0075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7535"/>
              </a:solidFill>
              <a:ln w="9525" cap="flat">
                <a:solidFill>
                  <a:srgbClr val="0075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396</c:v>
                </c:pt>
                <c:pt idx="1">
                  <c:v>400</c:v>
                </c:pt>
                <c:pt idx="2">
                  <c:v>423</c:v>
                </c:pt>
                <c:pt idx="3">
                  <c:v>449</c:v>
                </c:pt>
                <c:pt idx="4">
                  <c:v>488</c:v>
                </c:pt>
                <c:pt idx="5">
                  <c:v>540</c:v>
                </c:pt>
                <c:pt idx="6">
                  <c:v>592</c:v>
                </c:pt>
                <c:pt idx="7">
                  <c:v>649</c:v>
                </c:pt>
                <c:pt idx="8">
                  <c:v>705</c:v>
                </c:pt>
                <c:pt idx="9">
                  <c:v>754</c:v>
                </c:pt>
                <c:pt idx="10">
                  <c:v>769</c:v>
                </c:pt>
                <c:pt idx="11">
                  <c:v>770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Checkout</c:v>
                </c:pt>
              </c:strCache>
            </c:strRef>
          </c:tx>
          <c:spPr>
            <a:solidFill>
              <a:srgbClr val="8AC0A2"/>
            </a:solidFill>
            <a:ln w="38100" cap="flat">
              <a:solidFill>
                <a:srgbClr val="8AC0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C0A2"/>
              </a:solidFill>
              <a:ln w="9525" cap="flat">
                <a:solidFill>
                  <a:srgbClr val="8AC0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450</c:v>
                </c:pt>
                <c:pt idx="1">
                  <c:v>427</c:v>
                </c:pt>
                <c:pt idx="2">
                  <c:v>405</c:v>
                </c:pt>
                <c:pt idx="3">
                  <c:v>384</c:v>
                </c:pt>
                <c:pt idx="4">
                  <c:v>364</c:v>
                </c:pt>
                <c:pt idx="5">
                  <c:v>345</c:v>
                </c:pt>
                <c:pt idx="6">
                  <c:v>327</c:v>
                </c:pt>
                <c:pt idx="7">
                  <c:v>310</c:v>
                </c:pt>
                <c:pt idx="8">
                  <c:v>294</c:v>
                </c:pt>
                <c:pt idx="9">
                  <c:v>278</c:v>
                </c:pt>
                <c:pt idx="10">
                  <c:v>264</c:v>
                </c:pt>
                <c:pt idx="11">
                  <c:v>250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  <c:min val="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3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3330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03330"/>
                </a:solidFill>
                <a:latin typeface="+mn-lt"/>
              </a:rPr>
              <a:t>Novos contratos por mês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 dedicada</c:v>
                </c:pt>
              </c:strCache>
            </c:strRef>
          </c:tx>
          <c:spPr>
            <a:solidFill>
              <a:srgbClr val="0075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8</c:v>
                </c:pt>
                <c:pt idx="2">
                  <c:v>18</c:v>
                </c:pt>
                <c:pt idx="3">
                  <c:v>18</c:v>
                </c:pt>
                <c:pt idx="4">
                  <c:v>27</c:v>
                </c:pt>
                <c:pt idx="5">
                  <c:v>36</c:v>
                </c:pt>
                <c:pt idx="6">
                  <c:v>37</c:v>
                </c:pt>
                <c:pt idx="7">
                  <c:v>46</c:v>
                </c:pt>
                <c:pt idx="8">
                  <c:v>53</c:v>
                </c:pt>
                <c:pt idx="9">
                  <c:v>52</c:v>
                </c:pt>
                <c:pt idx="10">
                  <c:v>26</c:v>
                </c:pt>
                <c:pt idx="11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Operação compartilhada</c:v>
                </c:pt>
              </c:strCache>
            </c:strRef>
          </c:tx>
          <c:spPr>
            <a:solidFill>
              <a:srgbClr val="90B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4</c:v>
                </c:pt>
                <c:pt idx="2">
                  <c:v>13</c:v>
                </c:pt>
                <c:pt idx="3">
                  <c:v>16</c:v>
                </c:pt>
                <c:pt idx="4">
                  <c:v>21</c:v>
                </c:pt>
                <c:pt idx="5">
                  <c:v>26</c:v>
                </c:pt>
                <c:pt idx="6">
                  <c:v>26</c:v>
                </c:pt>
                <c:pt idx="7">
                  <c:v>22</c:v>
                </c:pt>
                <c:pt idx="8">
                  <c:v>16</c:v>
                </c:pt>
                <c:pt idx="9">
                  <c:v>12</c:v>
                </c:pt>
                <c:pt idx="10">
                  <c:v>4</c:v>
                </c:pt>
                <c:pt idx="1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3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3330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03330"/>
                </a:solidFill>
                <a:latin typeface="+mn-lt"/>
              </a:rPr>
              <a:t>Investimento em marketing por mês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Mídia paga</c:v>
                </c:pt>
              </c:strCache>
            </c:strRef>
          </c:tx>
          <c:spPr>
            <a:solidFill>
              <a:srgbClr val="5CA7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  <c:pt idx="10">
                  <c:v>30</c:v>
                </c:pt>
                <c:pt idx="11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Eventos</c:v>
                </c:pt>
              </c:strCache>
            </c:strRef>
          </c:tx>
          <c:spPr>
            <a:solidFill>
              <a:srgbClr val="90B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40</c:v>
                </c:pt>
                <c:pt idx="4">
                  <c:v>150</c:v>
                </c:pt>
                <c:pt idx="5">
                  <c:v>55</c:v>
                </c:pt>
                <c:pt idx="6">
                  <c:v>105</c:v>
                </c:pt>
                <c:pt idx="7">
                  <c:v>75</c:v>
                </c:pt>
                <c:pt idx="8">
                  <c:v>55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3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3330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03330"/>
                </a:solidFill>
                <a:latin typeface="+mn-lt"/>
              </a:rPr>
              <a:t>Reviews coletados por mês (mil)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 (mil)</c:v>
                </c:pt>
              </c:strCache>
            </c:strRef>
          </c:tx>
          <c:spPr>
            <a:solidFill>
              <a:srgbClr val="0075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310</c:v>
                </c:pt>
                <c:pt idx="1">
                  <c:v>313</c:v>
                </c:pt>
                <c:pt idx="2">
                  <c:v>330</c:v>
                </c:pt>
                <c:pt idx="3">
                  <c:v>349</c:v>
                </c:pt>
                <c:pt idx="4">
                  <c:v>379</c:v>
                </c:pt>
                <c:pt idx="5">
                  <c:v>418</c:v>
                </c:pt>
                <c:pt idx="6">
                  <c:v>458</c:v>
                </c:pt>
                <c:pt idx="7">
                  <c:v>501</c:v>
                </c:pt>
                <c:pt idx="8">
                  <c:v>543</c:v>
                </c:pt>
                <c:pt idx="9">
                  <c:v>580</c:v>
                </c:pt>
                <c:pt idx="10">
                  <c:v>592</c:v>
                </c:pt>
                <c:pt idx="11">
                  <c:v>592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3330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03330"/>
                </a:solidFill>
                <a:latin typeface="+mn-lt"/>
              </a:rPr>
              <a:t>Receita bruta por mês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Contratos</c:v>
                </c:pt>
              </c:strCache>
            </c:strRef>
          </c:tx>
          <c:spPr>
            <a:solidFill>
              <a:srgbClr val="0075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706</c:v>
                </c:pt>
                <c:pt idx="1">
                  <c:v>713</c:v>
                </c:pt>
                <c:pt idx="2">
                  <c:v>720</c:v>
                </c:pt>
                <c:pt idx="3">
                  <c:v>762</c:v>
                </c:pt>
                <c:pt idx="4">
                  <c:v>808</c:v>
                </c:pt>
                <c:pt idx="5">
                  <c:v>878</c:v>
                </c:pt>
                <c:pt idx="6">
                  <c:v>972</c:v>
                </c:pt>
                <c:pt idx="7">
                  <c:v>1066</c:v>
                </c:pt>
                <c:pt idx="8">
                  <c:v>1168</c:v>
                </c:pt>
                <c:pt idx="9">
                  <c:v>1268</c:v>
                </c:pt>
                <c:pt idx="10">
                  <c:v>1358</c:v>
                </c:pt>
                <c:pt idx="11">
                  <c:v>1385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Checkout</c:v>
                </c:pt>
              </c:strCache>
            </c:strRef>
          </c:tx>
          <c:spPr>
            <a:solidFill>
              <a:srgbClr val="8AC0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</c:v>
                </c:pt>
                <c:pt idx="1">
                  <c:v>34</c:v>
                </c:pt>
                <c:pt idx="2">
                  <c:v>32</c:v>
                </c:pt>
                <c:pt idx="3">
                  <c:v>31</c:v>
                </c:pt>
                <c:pt idx="4">
                  <c:v>29</c:v>
                </c:pt>
                <c:pt idx="5">
                  <c:v>28</c:v>
                </c:pt>
                <c:pt idx="6">
                  <c:v>26</c:v>
                </c:pt>
                <c:pt idx="7">
                  <c:v>25</c:v>
                </c:pt>
                <c:pt idx="8">
                  <c:v>23</c:v>
                </c:pt>
                <c:pt idx="9">
                  <c:v>22</c:v>
                </c:pt>
                <c:pt idx="10">
                  <c:v>21</c:v>
                </c:pt>
                <c:pt idx="1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3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3330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03330"/>
                </a:solidFill>
                <a:latin typeface="+mn-lt"/>
              </a:rPr>
              <a:t>Opex por mês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033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215</c:v>
                </c:pt>
                <c:pt idx="1">
                  <c:v>215</c:v>
                </c:pt>
                <c:pt idx="2">
                  <c:v>215</c:v>
                </c:pt>
                <c:pt idx="3">
                  <c:v>215</c:v>
                </c:pt>
                <c:pt idx="4">
                  <c:v>215</c:v>
                </c:pt>
                <c:pt idx="5">
                  <c:v>215</c:v>
                </c:pt>
                <c:pt idx="6">
                  <c:v>215</c:v>
                </c:pt>
                <c:pt idx="7">
                  <c:v>215</c:v>
                </c:pt>
                <c:pt idx="8">
                  <c:v>215</c:v>
                </c:pt>
                <c:pt idx="9">
                  <c:v>215</c:v>
                </c:pt>
                <c:pt idx="10">
                  <c:v>215</c:v>
                </c:pt>
                <c:pt idx="11">
                  <c:v>215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0075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</c:v>
                </c:pt>
                <c:pt idx="1">
                  <c:v>42</c:v>
                </c:pt>
                <c:pt idx="2">
                  <c:v>42</c:v>
                </c:pt>
                <c:pt idx="3">
                  <c:v>84</c:v>
                </c:pt>
                <c:pt idx="4">
                  <c:v>84</c:v>
                </c:pt>
                <c:pt idx="5">
                  <c:v>84</c:v>
                </c:pt>
                <c:pt idx="6">
                  <c:v>126</c:v>
                </c:pt>
                <c:pt idx="7">
                  <c:v>126</c:v>
                </c:pt>
                <c:pt idx="8">
                  <c:v>126</c:v>
                </c:pt>
                <c:pt idx="9">
                  <c:v>126</c:v>
                </c:pt>
                <c:pt idx="10">
                  <c:v>126</c:v>
                </c:pt>
                <c:pt idx="11">
                  <c:v>126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90B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40</c:v>
                </c:pt>
                <c:pt idx="1">
                  <c:v>42</c:v>
                </c:pt>
                <c:pt idx="2">
                  <c:v>44</c:v>
                </c:pt>
                <c:pt idx="3">
                  <c:v>86</c:v>
                </c:pt>
                <c:pt idx="4">
                  <c:v>198</c:v>
                </c:pt>
                <c:pt idx="5">
                  <c:v>105</c:v>
                </c:pt>
                <c:pt idx="6">
                  <c:v>157</c:v>
                </c:pt>
                <c:pt idx="7">
                  <c:v>129</c:v>
                </c:pt>
                <c:pt idx="8">
                  <c:v>111</c:v>
                </c:pt>
                <c:pt idx="9">
                  <c:v>58</c:v>
                </c:pt>
                <c:pt idx="10">
                  <c:v>60</c:v>
                </c:pt>
                <c:pt idx="11">
                  <c:v>62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G&amp;A</c:v>
                </c:pt>
              </c:strCache>
            </c:strRef>
          </c:tx>
          <c:spPr>
            <a:solidFill>
              <a:srgbClr val="8AC0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33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3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03330"/>
                </a:solidFill>
                <a:latin typeface="+mn-lt"/>
              </a:defRPr>
            </a:pPr>
            <a:r>
              <a:rPr sz="1300" b="1" i="0" u="none" strike="noStrike">
                <a:solidFill>
                  <a:srgbClr val="003330"/>
                </a:solidFill>
                <a:latin typeface="+mn-lt"/>
              </a:rPr>
              <a:t>Margem EBITDA (% da receita bruta)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Margem EBITDA</c:v>
                </c:pt>
              </c:strCache>
            </c:strRef>
          </c:tx>
          <c:spPr>
            <a:solidFill>
              <a:srgbClr val="007535"/>
            </a:solidFill>
            <a:ln w="38100" cap="flat">
              <a:solidFill>
                <a:srgbClr val="007535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33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7535"/>
              </a:solidFill>
              <a:ln w="9525" cap="flat">
                <a:solidFill>
                  <a:srgbClr val="0075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0.373</c:v>
                </c:pt>
                <c:pt idx="1">
                  <c:v>0.375</c:v>
                </c:pt>
                <c:pt idx="2">
                  <c:v>0.375</c:v>
                </c:pt>
                <c:pt idx="3">
                  <c:v>0.289</c:v>
                </c:pt>
                <c:pt idx="4">
                  <c:v>0.182</c:v>
                </c:pt>
                <c:pt idx="5">
                  <c:v>0.329</c:v>
                </c:pt>
                <c:pt idx="6">
                  <c:v>0.277</c:v>
                </c:pt>
                <c:pt idx="7">
                  <c:v>0.346</c:v>
                </c:pt>
                <c:pt idx="8">
                  <c:v>0.397</c:v>
                </c:pt>
                <c:pt idx="9">
                  <c:v>0.468</c:v>
                </c:pt>
                <c:pt idx="10">
                  <c:v>0.486</c:v>
                </c:pt>
                <c:pt idx="11">
                  <c:v>0.49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033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3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é o plano de negócio de Reviews para 2027, construído a partir do Blueprint de Budget. A mensagem central: com um time comercial dedicado que cresce de 3 para 9 Sales Specialists, a base de contratos quase dobra e a receita bruta chega a R$ 12,1 milhões no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números resumem o plano: R$ 12,1 mi de receita bruta, 770 contratos ativos no fim do ano, cerca de 5,4 milhões de reviews coletados e R$ 4,6 mi de EBITDA antes de COGS. O EBITDA aqui já inclui a folha do Growth Engineer e do Data Engineer, que estão no plano de contratação mas ficaram fora do total da planilha. COGS ainda não foi estimado e é tratado na sensibilidade.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conecta os dois jobs do RA. O consumidor quer comprar com confiança e, ao avaliar, gera opinião real. A marca compra o uso dessa opinião real como ferramenta de venda. A assimetria importa: a qualidade da experiência do consumidor é a condição de existência do ativo que a marca 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Partimos de 400 contratos e 475 clientes de Checkout. Contratos concentra 95% do MRR e 97% dos reviews. Por cliente, um contrato vale 24 vezes o ticket do Checkout, gera 40 vezes mais reviews e tem churn 2,6 vezes menor. Por isso o plano de 2027 concentra toda a aquisição em Contratos.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de contratos sai de 400 e termina o ano em 770, alta de 93%. O Checkout não recebe aquisição no plano e encolhe de 475 para 250 clientes por causa do churn de 5,2% ao mês. A base total cresce 17%, mas o que importa é o mix: ele migra para o modelo de maior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501 novos contratos no ano: 339 da operação dedicada e 162 da operação compartilhada, que é o time comercial do RA vendendo Reviews junto com outros produtos. Descontado o churn de 131 contratos, o saldo líquido é de +370. As vendas se concentram de maio a outubro; janeiro, fevereiro, novembro e dezembro têm sazonalidade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capacidade comercial é o que dirige o plano: as vendas são calculadas a partir de quantos vendedores temos e de quanto cada um produz. Começamos com 3 Sales Specialists dedicados em novembro de 2026, vamos para 6 em abril e 9 em julho. A produtividade base é de 5 vendas por mês, com ramp-up de 0, 50 e 100% nos três primeiros meses, e ganho de produtividade de 5% a 20% ao longo dos primeiros meses. Na média do ano, o dedicado entrega 4,2 vendas por mês e o compartilhado 1,9.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foi desenhado de trás para frente: para entregar 501 contratos com conversão de 20% em cada etapa, precisamos de cerca de 12,5 mil leads. Com R$ 732 mil de mídia e eventos, o custo por lead máximo é de R$ 58. Dois terços do investimento estão em eventos, concentrados de abril a setembro. Isso cria um descasamento no primeiro e no quarto trimestres, que tratamos nos riscos.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contrato gera em média 762 reviews por mês, então a curva de reviews acompanha a base de contratos: de cerca de 310 mil para 590 mil por mês, perto de 5,4 milhões no ano, 99% via Contratos. A planilha mostra 5,5 milhões porque calcula os reviews de Checkout sobre a base total de clientes; corrigimos para a base de Checkout. Os subtotais por modelo da planilha também somam só parte dos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receita bruta vai de R$ 740 mil em janeiro para R$ 1,4 milhão em dezembro, R$ 12,1 milhões no ano. Depois de 22% de tributos sobre vendas, a receita líquida é de R$ 9,5 milhões. Saímos do ano com ARR de quase R$ 17 milhões, base para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DRE trimestral mostra a receita crescendo trimestre a trimestre e o EBITDA acompanhando. O segundo trimestre tem a menor margem porque concentra eventos. No ano, EBITDA antes de COGS de R$ 4,6 milhões, 38% da receita bruta, e resultado de R$ 3,6 milhões após IRPJ e CSLL. A linha de COGS ainda não foi estimada; o impacto aparece no slide de sensibilidade.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opex vai de cerca de R$ 301 mil para R$ 407 mil por mês, enquanto a receita quase dobra. P&amp;D é 53% do custo e é fixo: não cresce com a base. Por isso a margem EBITDA sobe de 37% em janeiro para 49% em dezembro. A queda de maio é pontual e vem do maior evento do calendário.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CAC de R$ 4,4 mil considera toda a folha de vendas, mídia, eventos e o Growth Engineer, dividido pelos 501 novos contratos. Com LTV de R$ 63 mil, a relação é de 14 vezes. Como a operação compartilhada não tem custo alocado no plano, fizemos o teste de estresse: mesmo jogando todo o custo só nas vendas dedicadas, a relação fica perto de 10 vezes. A margem de contribuição de 70% é premissa da planilha e precisa ser confirmada junto com o COGS.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time começa 2027 com 13 pessoas: 9 em P&amp;D, 3 Sales Specialists e 1 Growth Engineer, e chega a 19 em julho com as duas ondas de vendas. A folha considera encargos de 100% sobre o salário, uma premissa conservadora que vale validar com RH. O G&amp;A é pequeno: dois offsites por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Reconciliação do EBITDA: a planilha mostra R$ 5,33 milhões, mas deixa fora do total a folha do Growth Engineer e do Data Engineer, R$ 360 mil cada no ano. Com elas, R$ 4,61 milhões antes de COGS. A linha de COGS está zerada; a planilha só anota uma referência de 29,5% de COGS geral do RA. Se aplicarmos 29,5% sobre a receita líquida, o EBITDA cai para R$ 1,82 milhões, 15% da receita bruta. Ainda positivo, mas precisamos fechar o COGS real antes da aprovação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riscos. Primeiro, a contratação: o plano depende de ter 9 Sales Specialists produtivos no segundo semestre. Segundo, o calendário de demanda: no primeiro trimestre o investimento gera cerca da metade dos leads necessários, então dependemos do pipeline de 2026. Terceiro, o churn: a 3% ao mês perdemos 57 contratos e cerca de meio milhão de receita. Quarto, um terço das vendas vem da operação compartilhada, que não tem custo nem meta específica no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Pedimos quatro decisões: aprovar o budget, o plano de contratação em três ondas, o calendário de marketing, e o compromisso de fechar o COGS real e as metas de retenção até dezembro de 2026, antes do início do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 como estão na aba SaaS Plan Template da planilha Blueprint @ Budget Reviews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dos ajustes aplicados sobre a planilha original, para facilitar a reconciliação dos números com o time de FP&amp;A.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2402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0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Business Plan Reviews 2027 · Reclame AQUI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182880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6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8803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31520" y="38862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Business Plan Reviews 2027 · Reclame AQUI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003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Business Plan Reviews 2027 · Reclame AQUI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BUSINESS PLAN · BUDGET 2027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2402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Reviews 2027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De 400 para 770 contratos e R$ 12,1 mi de receita bruta, com o time comercial triplicando</a:t>
            </a:r>
            <a:endParaRPr lang="en-US" sz="2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Reclame AQUI · Outubro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RESUMO EXECUTIVO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Em 2027, Reviews quase dobra e se paga com folga</a:t>
            </a:r>
            <a:endParaRPr lang="en-US" sz="2800" dirty="0"/>
          </a:p>
        </p:txBody>
      </p:sp>
      <p:sp>
        <p:nvSpPr>
          <p:cNvPr id="4" name="card-1"/>
          <p:cNvSpPr/>
          <p:nvPr/>
        </p:nvSpPr>
        <p:spPr>
          <a:xfrm>
            <a:off x="548640" y="16916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-num-2"/>
          <p:cNvSpPr txBox="1"/>
          <p:nvPr/>
        </p:nvSpPr>
        <p:spPr>
          <a:xfrm>
            <a:off x="777240" y="1874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R$ 12,1 mi</a:t>
            </a:r>
            <a:endParaRPr lang="en-US" sz="2800" dirty="0"/>
          </a:p>
        </p:txBody>
      </p:sp>
      <p:sp>
        <p:nvSpPr>
          <p:cNvPr id="6" name="stat-label-3"/>
          <p:cNvSpPr txBox="1"/>
          <p:nvPr/>
        </p:nvSpPr>
        <p:spPr>
          <a:xfrm>
            <a:off x="777240" y="2587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Receita bruta 2027</a:t>
            </a:r>
            <a:endParaRPr lang="en-US" sz="1500" dirty="0"/>
          </a:p>
        </p:txBody>
      </p:sp>
      <p:sp>
        <p:nvSpPr>
          <p:cNvPr id="7" name="stat-sub-4"/>
          <p:cNvSpPr txBox="1"/>
          <p:nvPr/>
        </p:nvSpPr>
        <p:spPr>
          <a:xfrm>
            <a:off x="77724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MRR 1,9x: R$ 740 mil em jan → R$ 1,4 mi em dez</a:t>
            </a:r>
            <a:endParaRPr lang="en-US" sz="1200" dirty="0"/>
          </a:p>
        </p:txBody>
      </p:sp>
      <p:sp>
        <p:nvSpPr>
          <p:cNvPr id="8" name="card-5"/>
          <p:cNvSpPr/>
          <p:nvPr/>
        </p:nvSpPr>
        <p:spPr>
          <a:xfrm>
            <a:off x="3367735" y="16916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-num-6"/>
          <p:cNvSpPr txBox="1"/>
          <p:nvPr/>
        </p:nvSpPr>
        <p:spPr>
          <a:xfrm>
            <a:off x="3596335" y="1874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</a:t>
            </a:r>
            <a:endParaRPr lang="en-US" sz="2800" dirty="0"/>
          </a:p>
        </p:txBody>
      </p:sp>
      <p:sp>
        <p:nvSpPr>
          <p:cNvPr id="10" name="stat-label-7"/>
          <p:cNvSpPr txBox="1"/>
          <p:nvPr/>
        </p:nvSpPr>
        <p:spPr>
          <a:xfrm>
            <a:off x="3596335" y="2587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Contratos em dez/27</a:t>
            </a:r>
            <a:endParaRPr lang="en-US" sz="1500" dirty="0"/>
          </a:p>
        </p:txBody>
      </p:sp>
      <p:sp>
        <p:nvSpPr>
          <p:cNvPr id="11" name="stat-sub-8"/>
          <p:cNvSpPr txBox="1"/>
          <p:nvPr/>
        </p:nvSpPr>
        <p:spPr>
          <a:xfrm>
            <a:off x="3596335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+93% vs. 400 contratos de partida</a:t>
            </a:r>
            <a:endParaRPr lang="en-US" sz="1200" dirty="0"/>
          </a:p>
        </p:txBody>
      </p:sp>
      <p:sp>
        <p:nvSpPr>
          <p:cNvPr id="12" name="card-9"/>
          <p:cNvSpPr/>
          <p:nvPr/>
        </p:nvSpPr>
        <p:spPr>
          <a:xfrm>
            <a:off x="6186830" y="16916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num-10"/>
          <p:cNvSpPr txBox="1"/>
          <p:nvPr/>
        </p:nvSpPr>
        <p:spPr>
          <a:xfrm>
            <a:off x="6415430" y="1874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~5,4 mi</a:t>
            </a:r>
            <a:endParaRPr lang="en-US" sz="2800" dirty="0"/>
          </a:p>
        </p:txBody>
      </p:sp>
      <p:sp>
        <p:nvSpPr>
          <p:cNvPr id="14" name="stat-label-11"/>
          <p:cNvSpPr txBox="1"/>
          <p:nvPr/>
        </p:nvSpPr>
        <p:spPr>
          <a:xfrm>
            <a:off x="6415430" y="2587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Reviews no ano</a:t>
            </a:r>
            <a:endParaRPr lang="en-US" sz="1500" dirty="0"/>
          </a:p>
        </p:txBody>
      </p:sp>
      <p:sp>
        <p:nvSpPr>
          <p:cNvPr id="15" name="stat-sub-12"/>
          <p:cNvSpPr txBox="1"/>
          <p:nvPr/>
        </p:nvSpPr>
        <p:spPr>
          <a:xfrm>
            <a:off x="6415430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~310 mil → ~590 mil reviews por mês</a:t>
            </a:r>
            <a:endParaRPr lang="en-US" sz="1200" dirty="0"/>
          </a:p>
        </p:txBody>
      </p:sp>
      <p:sp>
        <p:nvSpPr>
          <p:cNvPr id="16" name="card-13"/>
          <p:cNvSpPr/>
          <p:nvPr/>
        </p:nvSpPr>
        <p:spPr>
          <a:xfrm>
            <a:off x="9005926" y="16916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at-num-14"/>
          <p:cNvSpPr txBox="1"/>
          <p:nvPr/>
        </p:nvSpPr>
        <p:spPr>
          <a:xfrm>
            <a:off x="9234526" y="1874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R$ 4,6 mi</a:t>
            </a:r>
            <a:endParaRPr lang="en-US" sz="2800" dirty="0"/>
          </a:p>
        </p:txBody>
      </p:sp>
      <p:sp>
        <p:nvSpPr>
          <p:cNvPr id="18" name="stat-label-15"/>
          <p:cNvSpPr txBox="1"/>
          <p:nvPr/>
        </p:nvSpPr>
        <p:spPr>
          <a:xfrm>
            <a:off x="9234526" y="25877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EBITDA antes de COGS</a:t>
            </a:r>
            <a:endParaRPr lang="en-US" sz="1500" dirty="0"/>
          </a:p>
        </p:txBody>
      </p:sp>
      <p:sp>
        <p:nvSpPr>
          <p:cNvPr id="19" name="stat-sub-16"/>
          <p:cNvSpPr txBox="1"/>
          <p:nvPr/>
        </p:nvSpPr>
        <p:spPr>
          <a:xfrm>
            <a:off x="9234526" y="2971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38% da receita bruta; COGS a fechar</a:t>
            </a:r>
            <a:endParaRPr lang="en-US" sz="1200" dirty="0"/>
          </a:p>
        </p:txBody>
      </p:sp>
      <p:sp>
        <p:nvSpPr>
          <p:cNvPr id="20" name="icon-bg-17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-18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4006901"/>
            <a:ext cx="261518" cy="261518"/>
          </a:xfrm>
          <a:prstGeom prst="rect">
            <a:avLst/>
          </a:prstGeom>
        </p:spPr>
      </p:pic>
      <p:sp>
        <p:nvSpPr>
          <p:cNvPr id="22" name="resumo-19"/>
          <p:cNvSpPr txBox="1"/>
          <p:nvPr/>
        </p:nvSpPr>
        <p:spPr>
          <a:xfrm>
            <a:off x="1234440" y="388620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Motor de crescimento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Venda consultiva de Contratos (ticket de R$ 1.800/mês): 501 novos contratos, 2/3 vindos do time dedicado</a:t>
            </a:r>
            <a:endParaRPr lang="en-US" sz="1500" dirty="0"/>
          </a:p>
        </p:txBody>
      </p:sp>
      <p:sp>
        <p:nvSpPr>
          <p:cNvPr id="23" name="icon-bg-20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-2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4692701"/>
            <a:ext cx="261518" cy="261518"/>
          </a:xfrm>
          <a:prstGeom prst="rect">
            <a:avLst/>
          </a:prstGeom>
        </p:spPr>
      </p:pic>
      <p:sp>
        <p:nvSpPr>
          <p:cNvPr id="25" name="resumo-22"/>
          <p:cNvSpPr txBox="1"/>
          <p:nvPr/>
        </p:nvSpPr>
        <p:spPr>
          <a:xfrm>
            <a:off x="1234440" y="457200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Investimento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R$ 4,9 mi de opex no ano: P&amp;D 53%, Vendas 23%, Marketing 23%</a:t>
            </a:r>
            <a:endParaRPr lang="en-US" sz="1500" dirty="0"/>
          </a:p>
        </p:txBody>
      </p:sp>
      <p:sp>
        <p:nvSpPr>
          <p:cNvPr id="26" name="icon-bg-23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-24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378501"/>
            <a:ext cx="261518" cy="261518"/>
          </a:xfrm>
          <a:prstGeom prst="rect">
            <a:avLst/>
          </a:prstGeom>
        </p:spPr>
      </p:pic>
      <p:sp>
        <p:nvSpPr>
          <p:cNvPr id="28" name="resumo-25"/>
          <p:cNvSpPr txBox="1"/>
          <p:nvPr/>
        </p:nvSpPr>
        <p:spPr>
          <a:xfrm>
            <a:off x="1234440" y="525780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pedimos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Aprovar o budget e o plano de contratação em 3 ondas: nov/26, abr/27 e jul/27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POR QUE REVIEWS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Reviews transforma opinião real em ferramenta de venda</a:t>
            </a:r>
            <a:endParaRPr lang="en-US" sz="2800" dirty="0"/>
          </a:p>
        </p:txBody>
      </p:sp>
      <p:sp>
        <p:nvSpPr>
          <p:cNvPr id="4" name="card-26"/>
          <p:cNvSpPr/>
          <p:nvPr/>
        </p:nvSpPr>
        <p:spPr>
          <a:xfrm>
            <a:off x="548640" y="1828800"/>
            <a:ext cx="329184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bg-27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28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324405"/>
            <a:ext cx="380390" cy="380390"/>
          </a:xfrm>
          <a:prstGeom prst="rect">
            <a:avLst/>
          </a:prstGeom>
        </p:spPr>
      </p:pic>
      <p:sp>
        <p:nvSpPr>
          <p:cNvPr id="7" name="t-29"/>
          <p:cNvSpPr txBox="1"/>
          <p:nvPr/>
        </p:nvSpPr>
        <p:spPr>
          <a:xfrm>
            <a:off x="8686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Consumidor</a:t>
            </a:r>
            <a:endParaRPr lang="en-US" sz="2200" dirty="0"/>
          </a:p>
        </p:txBody>
      </p:sp>
      <p:sp>
        <p:nvSpPr>
          <p:cNvPr id="8" name="t-30"/>
          <p:cNvSpPr txBox="1"/>
          <p:nvPr/>
        </p:nvSpPr>
        <p:spPr>
          <a:xfrm>
            <a:off x="86868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cliente de impacto</a:t>
            </a:r>
            <a:endParaRPr lang="en-US" sz="1300" dirty="0"/>
          </a:p>
        </p:txBody>
      </p:sp>
      <p:sp>
        <p:nvSpPr>
          <p:cNvPr id="9" name="t-31"/>
          <p:cNvSpPr txBox="1"/>
          <p:nvPr/>
        </p:nvSpPr>
        <p:spPr>
          <a:xfrm>
            <a:off x="868680" y="39319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Quer adquirir com confiança, ajudando outros consumidores. Ao avaliar uma compra, gera um review.</a:t>
            </a:r>
            <a:endParaRPr lang="en-US" sz="1500" dirty="0"/>
          </a:p>
        </p:txBody>
      </p:sp>
      <p:sp>
        <p:nvSpPr>
          <p:cNvPr id="10" name="card-32"/>
          <p:cNvSpPr/>
          <p:nvPr/>
        </p:nvSpPr>
        <p:spPr>
          <a:xfrm>
            <a:off x="4434840" y="1828800"/>
            <a:ext cx="3291840" cy="35661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-bg-33"/>
          <p:cNvSpPr/>
          <p:nvPr/>
        </p:nvSpPr>
        <p:spPr>
          <a:xfrm>
            <a:off x="4754880" y="2148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-34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5" y="2324405"/>
            <a:ext cx="380390" cy="380390"/>
          </a:xfrm>
          <a:prstGeom prst="rect">
            <a:avLst/>
          </a:prstGeom>
        </p:spPr>
      </p:pic>
      <p:sp>
        <p:nvSpPr>
          <p:cNvPr id="13" name="t-35"/>
          <p:cNvSpPr txBox="1"/>
          <p:nvPr/>
        </p:nvSpPr>
        <p:spPr>
          <a:xfrm>
            <a:off x="47548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Opinião real</a:t>
            </a:r>
            <a:endParaRPr lang="en-US" sz="2200" dirty="0"/>
          </a:p>
        </p:txBody>
      </p:sp>
      <p:sp>
        <p:nvSpPr>
          <p:cNvPr id="14" name="t-36"/>
          <p:cNvSpPr txBox="1"/>
          <p:nvPr/>
        </p:nvSpPr>
        <p:spPr>
          <a:xfrm>
            <a:off x="475488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a matéria-prima</a:t>
            </a:r>
            <a:endParaRPr lang="en-US" sz="1300" dirty="0"/>
          </a:p>
        </p:txBody>
      </p:sp>
      <p:sp>
        <p:nvSpPr>
          <p:cNvPr id="15" name="t-37"/>
          <p:cNvSpPr txBox="1"/>
          <p:nvPr/>
        </p:nvSpPr>
        <p:spPr>
          <a:xfrm>
            <a:off x="4754880" y="39319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Review ou reclamação avaliada: experiência humana e verdadeira, transformada em dado público e verificável.</a:t>
            </a:r>
            <a:endParaRPr lang="en-US" sz="1500" dirty="0"/>
          </a:p>
        </p:txBody>
      </p:sp>
      <p:sp>
        <p:nvSpPr>
          <p:cNvPr id="16" name="card-38"/>
          <p:cNvSpPr/>
          <p:nvPr/>
        </p:nvSpPr>
        <p:spPr>
          <a:xfrm>
            <a:off x="8321040" y="1828800"/>
            <a:ext cx="329184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-bg-39"/>
          <p:cNvSpPr/>
          <p:nvPr/>
        </p:nvSpPr>
        <p:spPr>
          <a:xfrm>
            <a:off x="8641080" y="2148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40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645" y="2324405"/>
            <a:ext cx="380390" cy="380390"/>
          </a:xfrm>
          <a:prstGeom prst="rect">
            <a:avLst/>
          </a:prstGeom>
        </p:spPr>
      </p:pic>
      <p:sp>
        <p:nvSpPr>
          <p:cNvPr id="19" name="t-41"/>
          <p:cNvSpPr txBox="1"/>
          <p:nvPr/>
        </p:nvSpPr>
        <p:spPr>
          <a:xfrm>
            <a:off x="86410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Marca</a:t>
            </a:r>
            <a:endParaRPr lang="en-US" sz="2200" dirty="0"/>
          </a:p>
        </p:txBody>
      </p:sp>
      <p:sp>
        <p:nvSpPr>
          <p:cNvPr id="20" name="t-42"/>
          <p:cNvSpPr txBox="1"/>
          <p:nvPr/>
        </p:nvSpPr>
        <p:spPr>
          <a:xfrm>
            <a:off x="864108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cliente econômico</a:t>
            </a:r>
            <a:endParaRPr lang="en-US" sz="1300" dirty="0"/>
          </a:p>
        </p:txBody>
      </p:sp>
      <p:sp>
        <p:nvSpPr>
          <p:cNvPr id="21" name="t-43"/>
          <p:cNvSpPr txBox="1"/>
          <p:nvPr/>
        </p:nvSpPr>
        <p:spPr>
          <a:xfrm>
            <a:off x="8641080" y="39319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Quer vender mais e ser reconhecida como mais confiável, usando reputação e reviews como diferencial.</a:t>
            </a:r>
            <a:endParaRPr lang="en-US" sz="1500" dirty="0"/>
          </a:p>
        </p:txBody>
      </p:sp>
      <p:pic>
        <p:nvPicPr>
          <p:cNvPr id="22" name="seta-44" descr="se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3383280"/>
            <a:ext cx="411480" cy="411480"/>
          </a:xfrm>
          <a:prstGeom prst="rect">
            <a:avLst/>
          </a:prstGeom>
        </p:spPr>
      </p:pic>
      <p:pic>
        <p:nvPicPr>
          <p:cNvPr id="23" name="seta-45" descr="set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3383280"/>
            <a:ext cx="411480" cy="411480"/>
          </a:xfrm>
          <a:prstGeom prst="rect">
            <a:avLst/>
          </a:prstGeom>
        </p:spPr>
      </p:pic>
      <p:sp>
        <p:nvSpPr>
          <p:cNvPr id="24" name="nota-46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Quem gera o valor (consumidor) não é quem paga por ele (marca). Fonte: memória corporativa RA — JTBD e Opinião Real.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PONTO DE PARTIDA · AGO/26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Hoje: 875 clientes em dois modelos, e Contratos é o motor</a:t>
            </a:r>
            <a:endParaRPr lang="en-US" sz="2800" dirty="0"/>
          </a:p>
        </p:txBody>
      </p:sp>
      <p:graphicFrame>
        <p:nvGraphicFramePr>
          <p:cNvPr id="5" name="tabela-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Contratos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Checkout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Clientes pagantes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400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475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Reviews por mês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305 mil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 mil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Reviews por cliente/mês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762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ARPU mensal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R$ 1.800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R$ 76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Churn mensal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2,0%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5,2%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MRR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R$ 720 mil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R$ 36 mil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-48"/>
          <p:cNvSpPr/>
          <p:nvPr/>
        </p:nvSpPr>
        <p:spPr>
          <a:xfrm>
            <a:off x="7772400" y="1783080"/>
            <a:ext cx="3840480" cy="3712464"/>
          </a:xfrm>
          <a:prstGeom prst="roundRect">
            <a:avLst>
              <a:gd name="adj" fmla="val 29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-49"/>
          <p:cNvSpPr txBox="1"/>
          <p:nvPr/>
        </p:nvSpPr>
        <p:spPr>
          <a:xfrm>
            <a:off x="804672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Contratos já é</a:t>
            </a:r>
            <a:endParaRPr lang="en-US" sz="1400" dirty="0"/>
          </a:p>
        </p:txBody>
      </p:sp>
      <p:sp>
        <p:nvSpPr>
          <p:cNvPr id="7" name="t-50"/>
          <p:cNvSpPr txBox="1"/>
          <p:nvPr/>
        </p:nvSpPr>
        <p:spPr>
          <a:xfrm>
            <a:off x="804672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600" dirty="0"/>
          </a:p>
        </p:txBody>
      </p:sp>
      <p:sp>
        <p:nvSpPr>
          <p:cNvPr id="8" name="t-51"/>
          <p:cNvSpPr txBox="1"/>
          <p:nvPr/>
        </p:nvSpPr>
        <p:spPr>
          <a:xfrm>
            <a:off x="96012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do MRR</a:t>
            </a:r>
            <a:endParaRPr lang="en-US" sz="1800" dirty="0"/>
          </a:p>
        </p:txBody>
      </p:sp>
      <p:sp>
        <p:nvSpPr>
          <p:cNvPr id="9" name="t-52"/>
          <p:cNvSpPr txBox="1"/>
          <p:nvPr/>
        </p:nvSpPr>
        <p:spPr>
          <a:xfrm>
            <a:off x="8046720" y="3154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3600" dirty="0"/>
          </a:p>
        </p:txBody>
      </p:sp>
      <p:sp>
        <p:nvSpPr>
          <p:cNvPr id="10" name="t-53"/>
          <p:cNvSpPr txBox="1"/>
          <p:nvPr/>
        </p:nvSpPr>
        <p:spPr>
          <a:xfrm>
            <a:off x="960120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dos reviews</a:t>
            </a:r>
            <a:endParaRPr lang="en-US" sz="1800" dirty="0"/>
          </a:p>
        </p:txBody>
      </p:sp>
      <p:sp>
        <p:nvSpPr>
          <p:cNvPr id="11" name="t-54"/>
          <p:cNvSpPr txBox="1"/>
          <p:nvPr/>
        </p:nvSpPr>
        <p:spPr>
          <a:xfrm>
            <a:off x="8046720" y="4069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Por cliente: 24x o ticket, 40x os reviews e 2,6x menos churn que o Checkout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01</a:t>
            </a:r>
            <a:endParaRPr lang="en-US" sz="6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2880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Crescimento da base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3886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Clientes, aquisição, capacidade comercial, marketing e reviews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BASE DE CLIENTES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Contratos quase dobram; Checkout encolhe sem novas vendas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55"/>
          <p:cNvSpPr/>
          <p:nvPr/>
        </p:nvSpPr>
        <p:spPr>
          <a:xfrm>
            <a:off x="8412480" y="1691640"/>
            <a:ext cx="3200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-56"/>
          <p:cNvSpPr txBox="1"/>
          <p:nvPr/>
        </p:nvSpPr>
        <p:spPr>
          <a:xfrm>
            <a:off x="8641080" y="1783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→ 770</a:t>
            </a:r>
            <a:endParaRPr lang="en-US" sz="2600" dirty="0"/>
          </a:p>
        </p:txBody>
      </p:sp>
      <p:sp>
        <p:nvSpPr>
          <p:cNvPr id="7" name="t-57"/>
          <p:cNvSpPr txBox="1"/>
          <p:nvPr/>
        </p:nvSpPr>
        <p:spPr>
          <a:xfrm>
            <a:off x="8641080" y="2331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Contratos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+93% no ano</a:t>
            </a:r>
            <a:endParaRPr lang="en-US" sz="1300" dirty="0"/>
          </a:p>
        </p:txBody>
      </p:sp>
      <p:sp>
        <p:nvSpPr>
          <p:cNvPr id="8" name="card-58"/>
          <p:cNvSpPr/>
          <p:nvPr/>
        </p:nvSpPr>
        <p:spPr>
          <a:xfrm>
            <a:off x="8412480" y="3154680"/>
            <a:ext cx="3200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-59"/>
          <p:cNvSpPr txBox="1"/>
          <p:nvPr/>
        </p:nvSpPr>
        <p:spPr>
          <a:xfrm>
            <a:off x="864108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475 → 250</a:t>
            </a:r>
            <a:endParaRPr lang="en-US" sz="2600" dirty="0"/>
          </a:p>
        </p:txBody>
      </p:sp>
      <p:sp>
        <p:nvSpPr>
          <p:cNvPr id="10" name="t-60"/>
          <p:cNvSpPr txBox="1"/>
          <p:nvPr/>
        </p:nvSpPr>
        <p:spPr>
          <a:xfrm>
            <a:off x="864108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Checkout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−47%: sem aquisição, churn de 5,2%/mês</a:t>
            </a:r>
            <a:endParaRPr lang="en-US" sz="1300" dirty="0"/>
          </a:p>
        </p:txBody>
      </p:sp>
      <p:sp>
        <p:nvSpPr>
          <p:cNvPr id="11" name="card-61"/>
          <p:cNvSpPr/>
          <p:nvPr/>
        </p:nvSpPr>
        <p:spPr>
          <a:xfrm>
            <a:off x="8412480" y="4617720"/>
            <a:ext cx="3200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-62"/>
          <p:cNvSpPr txBox="1"/>
          <p:nvPr/>
        </p:nvSpPr>
        <p:spPr>
          <a:xfrm>
            <a:off x="8641080" y="4709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 → ~1.020</a:t>
            </a:r>
            <a:endParaRPr lang="en-US" sz="2600" dirty="0"/>
          </a:p>
        </p:txBody>
      </p:sp>
      <p:sp>
        <p:nvSpPr>
          <p:cNvPr id="13" name="t-63"/>
          <p:cNvSpPr txBox="1"/>
          <p:nvPr/>
        </p:nvSpPr>
        <p:spPr>
          <a:xfrm>
            <a:off x="8641080" y="5257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Base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+17% de clientes pagantes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AQUISIÇÃO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501 novos contratos no ano, 2/3 vindos do time dedicado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-64"/>
          <p:cNvSpPr txBox="1"/>
          <p:nvPr/>
        </p:nvSpPr>
        <p:spPr>
          <a:xfrm>
            <a:off x="841248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</a:t>
            </a:r>
            <a:endParaRPr lang="en-US" sz="2800" dirty="0"/>
          </a:p>
        </p:txBody>
      </p:sp>
      <p:sp>
        <p:nvSpPr>
          <p:cNvPr id="6" name="t-65"/>
          <p:cNvSpPr txBox="1"/>
          <p:nvPr/>
        </p:nvSpPr>
        <p:spPr>
          <a:xfrm>
            <a:off x="84124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novos contratos</a:t>
            </a:r>
            <a:endParaRPr lang="en-US" sz="1400" dirty="0"/>
          </a:p>
        </p:txBody>
      </p:sp>
      <p:sp>
        <p:nvSpPr>
          <p:cNvPr id="7" name="t-66"/>
          <p:cNvSpPr txBox="1"/>
          <p:nvPr/>
        </p:nvSpPr>
        <p:spPr>
          <a:xfrm>
            <a:off x="8412480" y="2770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 (68%)</a:t>
            </a:r>
            <a:endParaRPr lang="en-US" sz="2800" dirty="0"/>
          </a:p>
        </p:txBody>
      </p:sp>
      <p:sp>
        <p:nvSpPr>
          <p:cNvPr id="8" name="t-67"/>
          <p:cNvSpPr txBox="1"/>
          <p:nvPr/>
        </p:nvSpPr>
        <p:spPr>
          <a:xfrm>
            <a:off x="841248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operação dedicada</a:t>
            </a:r>
            <a:endParaRPr lang="en-US" sz="1400" dirty="0"/>
          </a:p>
        </p:txBody>
      </p:sp>
      <p:sp>
        <p:nvSpPr>
          <p:cNvPr id="9" name="t-68"/>
          <p:cNvSpPr txBox="1"/>
          <p:nvPr/>
        </p:nvSpPr>
        <p:spPr>
          <a:xfrm>
            <a:off x="8412480" y="3758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 (32%)</a:t>
            </a:r>
            <a:endParaRPr lang="en-US" sz="2800" dirty="0"/>
          </a:p>
        </p:txBody>
      </p:sp>
      <p:sp>
        <p:nvSpPr>
          <p:cNvPr id="10" name="t-69"/>
          <p:cNvSpPr txBox="1"/>
          <p:nvPr/>
        </p:nvSpPr>
        <p:spPr>
          <a:xfrm>
            <a:off x="8412480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operação compartilhada</a:t>
            </a:r>
            <a:endParaRPr lang="en-US" sz="1400" dirty="0"/>
          </a:p>
        </p:txBody>
      </p:sp>
      <p:sp>
        <p:nvSpPr>
          <p:cNvPr id="11" name="t-70"/>
          <p:cNvSpPr txBox="1"/>
          <p:nvPr/>
        </p:nvSpPr>
        <p:spPr>
          <a:xfrm>
            <a:off x="8412480" y="47457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−131</a:t>
            </a:r>
            <a:endParaRPr lang="en-US" sz="2800" dirty="0"/>
          </a:p>
        </p:txBody>
      </p:sp>
      <p:sp>
        <p:nvSpPr>
          <p:cNvPr id="12" name="t-71"/>
          <p:cNvSpPr txBox="1"/>
          <p:nvPr/>
        </p:nvSpPr>
        <p:spPr>
          <a:xfrm>
            <a:off x="8412480" y="5248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 (2%/mês) → saldo +370</a:t>
            </a:r>
            <a:endParaRPr lang="en-US" sz="1400" dirty="0"/>
          </a:p>
        </p:txBody>
      </p:sp>
      <p:sp>
        <p:nvSpPr>
          <p:cNvPr id="13" name="nota-7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Sazonalidade: jan e dez a 25% da produtividade; fev e nov a 50%. Pico de vendas entre mai e 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CAPACIDADE COMERCIAL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Time dedicado cresce em três ondas: 3 → 6 → 9 vendedores</a:t>
            </a:r>
            <a:endParaRPr lang="en-US" sz="2800" dirty="0"/>
          </a:p>
        </p:txBody>
      </p:sp>
      <p:sp>
        <p:nvSpPr>
          <p:cNvPr id="4" name="linha-tempo-73"/>
          <p:cNvSpPr/>
          <p:nvPr/>
        </p:nvSpPr>
        <p:spPr>
          <a:xfrm>
            <a:off x="1097280" y="2514600"/>
            <a:ext cx="9966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marco-74"/>
          <p:cNvSpPr/>
          <p:nvPr/>
        </p:nvSpPr>
        <p:spPr>
          <a:xfrm>
            <a:off x="896112" y="231343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-75"/>
          <p:cNvSpPr txBox="1"/>
          <p:nvPr/>
        </p:nvSpPr>
        <p:spPr>
          <a:xfrm>
            <a:off x="896112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nov/26</a:t>
            </a:r>
            <a:endParaRPr lang="en-US" sz="1800" dirty="0"/>
          </a:p>
        </p:txBody>
      </p:sp>
      <p:sp>
        <p:nvSpPr>
          <p:cNvPr id="7" name="t-76"/>
          <p:cNvSpPr txBox="1"/>
          <p:nvPr/>
        </p:nvSpPr>
        <p:spPr>
          <a:xfrm>
            <a:off x="896112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SS</a:t>
            </a:r>
            <a:endParaRPr lang="en-US" sz="2800" dirty="0"/>
          </a:p>
        </p:txBody>
      </p:sp>
      <p:sp>
        <p:nvSpPr>
          <p:cNvPr id="8" name="t-77"/>
          <p:cNvSpPr txBox="1"/>
          <p:nvPr/>
        </p:nvSpPr>
        <p:spPr>
          <a:xfrm>
            <a:off x="896112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Onda 1: time inicial + Growth Engineer + Data Engineer</a:t>
            </a:r>
            <a:endParaRPr lang="en-US" sz="1300" dirty="0"/>
          </a:p>
        </p:txBody>
      </p:sp>
      <p:sp>
        <p:nvSpPr>
          <p:cNvPr id="9" name="marco-78"/>
          <p:cNvSpPr/>
          <p:nvPr/>
        </p:nvSpPr>
        <p:spPr>
          <a:xfrm>
            <a:off x="4553712" y="231343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-79"/>
          <p:cNvSpPr txBox="1"/>
          <p:nvPr/>
        </p:nvSpPr>
        <p:spPr>
          <a:xfrm>
            <a:off x="4553712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abr/27</a:t>
            </a:r>
            <a:endParaRPr lang="en-US" sz="1800" dirty="0"/>
          </a:p>
        </p:txBody>
      </p:sp>
      <p:sp>
        <p:nvSpPr>
          <p:cNvPr id="11" name="t-80"/>
          <p:cNvSpPr txBox="1"/>
          <p:nvPr/>
        </p:nvSpPr>
        <p:spPr>
          <a:xfrm>
            <a:off x="4553712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SS</a:t>
            </a:r>
            <a:endParaRPr lang="en-US" sz="2800" dirty="0"/>
          </a:p>
        </p:txBody>
      </p:sp>
      <p:sp>
        <p:nvSpPr>
          <p:cNvPr id="12" name="t-81"/>
          <p:cNvSpPr txBox="1"/>
          <p:nvPr/>
        </p:nvSpPr>
        <p:spPr>
          <a:xfrm>
            <a:off x="4553712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Onda 2: +3 Sales Specialists, a tempo do ciclo de eventos</a:t>
            </a:r>
            <a:endParaRPr lang="en-US" sz="1300" dirty="0"/>
          </a:p>
        </p:txBody>
      </p:sp>
      <p:sp>
        <p:nvSpPr>
          <p:cNvPr id="13" name="marco-82"/>
          <p:cNvSpPr/>
          <p:nvPr/>
        </p:nvSpPr>
        <p:spPr>
          <a:xfrm>
            <a:off x="8211312" y="231343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-83"/>
          <p:cNvSpPr txBox="1"/>
          <p:nvPr/>
        </p:nvSpPr>
        <p:spPr>
          <a:xfrm>
            <a:off x="8211312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jul/27</a:t>
            </a:r>
            <a:endParaRPr lang="en-US" sz="1800" dirty="0"/>
          </a:p>
        </p:txBody>
      </p:sp>
      <p:sp>
        <p:nvSpPr>
          <p:cNvPr id="15" name="t-84"/>
          <p:cNvSpPr txBox="1"/>
          <p:nvPr/>
        </p:nvSpPr>
        <p:spPr>
          <a:xfrm>
            <a:off x="8211312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SS</a:t>
            </a:r>
            <a:endParaRPr lang="en-US" sz="2800" dirty="0"/>
          </a:p>
        </p:txBody>
      </p:sp>
      <p:sp>
        <p:nvSpPr>
          <p:cNvPr id="16" name="t-85"/>
          <p:cNvSpPr txBox="1"/>
          <p:nvPr/>
        </p:nvSpPr>
        <p:spPr>
          <a:xfrm>
            <a:off x="8211312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Onda 3: +3 Sales Specialists para o pico do 2º semestre</a:t>
            </a:r>
            <a:endParaRPr lang="en-US" sz="1300" dirty="0"/>
          </a:p>
        </p:txBody>
      </p:sp>
      <p:sp>
        <p:nvSpPr>
          <p:cNvPr id="17" name="card-86"/>
          <p:cNvSpPr/>
          <p:nvPr/>
        </p:nvSpPr>
        <p:spPr>
          <a:xfrm>
            <a:off x="548640" y="42519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-87"/>
          <p:cNvSpPr txBox="1"/>
          <p:nvPr/>
        </p:nvSpPr>
        <p:spPr>
          <a:xfrm>
            <a:off x="73152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vendas/mês</a:t>
            </a:r>
            <a:endParaRPr lang="en-US" sz="2200" dirty="0"/>
          </a:p>
        </p:txBody>
      </p:sp>
      <p:sp>
        <p:nvSpPr>
          <p:cNvPr id="19" name="t-88"/>
          <p:cNvSpPr txBox="1"/>
          <p:nvPr/>
        </p:nvSpPr>
        <p:spPr>
          <a:xfrm>
            <a:off x="731520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produtividade base do Sales Specialist dedicado (0,25 por dia útil)</a:t>
            </a:r>
            <a:endParaRPr lang="en-US" sz="1300" dirty="0"/>
          </a:p>
        </p:txBody>
      </p:sp>
      <p:sp>
        <p:nvSpPr>
          <p:cNvPr id="20" name="card-89"/>
          <p:cNvSpPr/>
          <p:nvPr/>
        </p:nvSpPr>
        <p:spPr>
          <a:xfrm>
            <a:off x="3355848" y="42519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-90"/>
          <p:cNvSpPr txBox="1"/>
          <p:nvPr/>
        </p:nvSpPr>
        <p:spPr>
          <a:xfrm>
            <a:off x="3538728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vendas/mês</a:t>
            </a:r>
            <a:endParaRPr lang="en-US" sz="2200" dirty="0"/>
          </a:p>
        </p:txBody>
      </p:sp>
      <p:sp>
        <p:nvSpPr>
          <p:cNvPr id="22" name="t-91"/>
          <p:cNvSpPr txBox="1"/>
          <p:nvPr/>
        </p:nvSpPr>
        <p:spPr>
          <a:xfrm>
            <a:off x="3538728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vendedor ativo da operação compartilhada (2 → 12 → 2 ativos)</a:t>
            </a:r>
            <a:endParaRPr lang="en-US" sz="1300" dirty="0"/>
          </a:p>
        </p:txBody>
      </p:sp>
      <p:sp>
        <p:nvSpPr>
          <p:cNvPr id="23" name="card-92"/>
          <p:cNvSpPr/>
          <p:nvPr/>
        </p:nvSpPr>
        <p:spPr>
          <a:xfrm>
            <a:off x="6163056" y="42519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-93"/>
          <p:cNvSpPr txBox="1"/>
          <p:nvPr/>
        </p:nvSpPr>
        <p:spPr>
          <a:xfrm>
            <a:off x="6345936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· 50% · 100%</a:t>
            </a:r>
            <a:endParaRPr lang="en-US" sz="2200" dirty="0"/>
          </a:p>
        </p:txBody>
      </p:sp>
      <p:sp>
        <p:nvSpPr>
          <p:cNvPr id="25" name="t-94"/>
          <p:cNvSpPr txBox="1"/>
          <p:nvPr/>
        </p:nvSpPr>
        <p:spPr>
          <a:xfrm>
            <a:off x="6345936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ramp-up do vendedor novo no 1º, 2º e 3º mês</a:t>
            </a:r>
            <a:endParaRPr lang="en-US" sz="1300" dirty="0"/>
          </a:p>
        </p:txBody>
      </p:sp>
      <p:sp>
        <p:nvSpPr>
          <p:cNvPr id="26" name="card-95"/>
          <p:cNvSpPr/>
          <p:nvPr/>
        </p:nvSpPr>
        <p:spPr>
          <a:xfrm>
            <a:off x="8970264" y="425196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-96"/>
          <p:cNvSpPr txBox="1"/>
          <p:nvPr/>
        </p:nvSpPr>
        <p:spPr>
          <a:xfrm>
            <a:off x="9153144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e 1,9</a:t>
            </a:r>
            <a:endParaRPr lang="en-US" sz="2200" dirty="0"/>
          </a:p>
        </p:txBody>
      </p:sp>
      <p:sp>
        <p:nvSpPr>
          <p:cNvPr id="28" name="t-97"/>
          <p:cNvSpPr txBox="1"/>
          <p:nvPr/>
        </p:nvSpPr>
        <p:spPr>
          <a:xfrm>
            <a:off x="9153144" y="4937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vendas/mês realizadas em média: dedicado e compartilhado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MARKETING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R$ 732 mil para ~12,5 mil leads, a CPL de R$ 58</a:t>
            </a:r>
            <a:endParaRPr lang="en-US" sz="2800" dirty="0"/>
          </a:p>
        </p:txBody>
      </p:sp>
      <p:sp>
        <p:nvSpPr>
          <p:cNvPr id="4" name="funil-98"/>
          <p:cNvSpPr/>
          <p:nvPr/>
        </p:nvSpPr>
        <p:spPr>
          <a:xfrm>
            <a:off x="548640" y="1783080"/>
            <a:ext cx="420624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-99"/>
          <p:cNvSpPr txBox="1"/>
          <p:nvPr/>
        </p:nvSpPr>
        <p:spPr>
          <a:xfrm>
            <a:off x="548640" y="17830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~12,5 mil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leads</a:t>
            </a:r>
            <a:endParaRPr lang="en-US" sz="2400" dirty="0"/>
          </a:p>
        </p:txBody>
      </p:sp>
      <p:sp>
        <p:nvSpPr>
          <p:cNvPr id="6" name="t-100"/>
          <p:cNvSpPr txBox="1"/>
          <p:nvPr/>
        </p:nvSpPr>
        <p:spPr>
          <a:xfrm>
            <a:off x="3840480" y="27614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20%</a:t>
            </a:r>
            <a:endParaRPr lang="en-US" sz="1200" dirty="0"/>
          </a:p>
        </p:txBody>
      </p:sp>
      <p:sp>
        <p:nvSpPr>
          <p:cNvPr id="7" name="funil-101"/>
          <p:cNvSpPr/>
          <p:nvPr/>
        </p:nvSpPr>
        <p:spPr>
          <a:xfrm>
            <a:off x="960120" y="310896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-102"/>
          <p:cNvSpPr txBox="1"/>
          <p:nvPr/>
        </p:nvSpPr>
        <p:spPr>
          <a:xfrm>
            <a:off x="960120" y="31089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~2,5 mil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leads qualificados</a:t>
            </a:r>
            <a:endParaRPr lang="en-US" sz="2400" dirty="0"/>
          </a:p>
        </p:txBody>
      </p:sp>
      <p:sp>
        <p:nvSpPr>
          <p:cNvPr id="9" name="t-103"/>
          <p:cNvSpPr txBox="1"/>
          <p:nvPr/>
        </p:nvSpPr>
        <p:spPr>
          <a:xfrm>
            <a:off x="3840480" y="4087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20%</a:t>
            </a:r>
            <a:endParaRPr lang="en-US" sz="1200" dirty="0"/>
          </a:p>
        </p:txBody>
      </p:sp>
      <p:sp>
        <p:nvSpPr>
          <p:cNvPr id="10" name="funil-104"/>
          <p:cNvSpPr/>
          <p:nvPr/>
        </p:nvSpPr>
        <p:spPr>
          <a:xfrm>
            <a:off x="1371600" y="443484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-105"/>
          <p:cNvSpPr txBox="1"/>
          <p:nvPr/>
        </p:nvSpPr>
        <p:spPr>
          <a:xfrm>
            <a:off x="1371600" y="4434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501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novos contratos</a:t>
            </a:r>
            <a:endParaRPr lang="en-US" sz="2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120640" y="169164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nota-10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Eventos somam R$ 480 mil (66% do investimento), entre abr e set. Mídia paga começa em R$ 10 mil e cresce R$ 2 mil por mês.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REVIEWS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Reviews por mês quase dobram: ~310 mil → ~590 mil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07"/>
          <p:cNvSpPr/>
          <p:nvPr/>
        </p:nvSpPr>
        <p:spPr>
          <a:xfrm>
            <a:off x="8412480" y="1691640"/>
            <a:ext cx="3200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-num-108"/>
          <p:cNvSpPr txBox="1"/>
          <p:nvPr/>
        </p:nvSpPr>
        <p:spPr>
          <a:xfrm>
            <a:off x="864108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~5,4 mi</a:t>
            </a:r>
            <a:endParaRPr lang="en-US" sz="3600" dirty="0"/>
          </a:p>
        </p:txBody>
      </p:sp>
      <p:sp>
        <p:nvSpPr>
          <p:cNvPr id="7" name="stat-label-109"/>
          <p:cNvSpPr txBox="1"/>
          <p:nvPr/>
        </p:nvSpPr>
        <p:spPr>
          <a:xfrm>
            <a:off x="8641080" y="25877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reviews no ano</a:t>
            </a:r>
            <a:endParaRPr lang="en-US" sz="1500" dirty="0"/>
          </a:p>
        </p:txBody>
      </p:sp>
      <p:sp>
        <p:nvSpPr>
          <p:cNvPr id="8" name="card-110"/>
          <p:cNvSpPr/>
          <p:nvPr/>
        </p:nvSpPr>
        <p:spPr>
          <a:xfrm>
            <a:off x="8412480" y="3154680"/>
            <a:ext cx="3200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-num-111"/>
          <p:cNvSpPr txBox="1"/>
          <p:nvPr/>
        </p:nvSpPr>
        <p:spPr>
          <a:xfrm>
            <a:off x="8641080" y="3337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3600" dirty="0"/>
          </a:p>
        </p:txBody>
      </p:sp>
      <p:sp>
        <p:nvSpPr>
          <p:cNvPr id="10" name="stat-label-112"/>
          <p:cNvSpPr txBox="1"/>
          <p:nvPr/>
        </p:nvSpPr>
        <p:spPr>
          <a:xfrm>
            <a:off x="864108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via Contratos</a:t>
            </a:r>
            <a:endParaRPr lang="en-US" sz="1500" dirty="0"/>
          </a:p>
        </p:txBody>
      </p:sp>
      <p:sp>
        <p:nvSpPr>
          <p:cNvPr id="11" name="card-113"/>
          <p:cNvSpPr/>
          <p:nvPr/>
        </p:nvSpPr>
        <p:spPr>
          <a:xfrm>
            <a:off x="8412480" y="4617720"/>
            <a:ext cx="3200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-num-114"/>
          <p:cNvSpPr txBox="1"/>
          <p:nvPr/>
        </p:nvSpPr>
        <p:spPr>
          <a:xfrm>
            <a:off x="8641080" y="4800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762</a:t>
            </a:r>
            <a:endParaRPr lang="en-US" sz="3600" dirty="0"/>
          </a:p>
        </p:txBody>
      </p:sp>
      <p:sp>
        <p:nvSpPr>
          <p:cNvPr id="13" name="stat-label-115"/>
          <p:cNvSpPr txBox="1"/>
          <p:nvPr/>
        </p:nvSpPr>
        <p:spPr>
          <a:xfrm>
            <a:off x="8641080" y="55138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reviews por contrato/mês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02</a:t>
            </a:r>
            <a:endParaRPr lang="en-US" sz="6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2880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Resultado financeiro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3886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Receita, DRE, estrutura de custos e unit economics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RECEITA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R$ 12,1 mi de receita bruta e MRR de saída de R$ 1,4 mi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-116"/>
          <p:cNvSpPr txBox="1"/>
          <p:nvPr/>
        </p:nvSpPr>
        <p:spPr>
          <a:xfrm>
            <a:off x="841248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R$ 12,1 mi</a:t>
            </a:r>
            <a:endParaRPr lang="en-US" sz="2800" dirty="0"/>
          </a:p>
        </p:txBody>
      </p:sp>
      <p:sp>
        <p:nvSpPr>
          <p:cNvPr id="6" name="t-117"/>
          <p:cNvSpPr txBox="1"/>
          <p:nvPr/>
        </p:nvSpPr>
        <p:spPr>
          <a:xfrm>
            <a:off x="84124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receita bruta no ano</a:t>
            </a:r>
            <a:endParaRPr lang="en-US" sz="1400" dirty="0"/>
          </a:p>
        </p:txBody>
      </p:sp>
      <p:sp>
        <p:nvSpPr>
          <p:cNvPr id="7" name="t-118"/>
          <p:cNvSpPr txBox="1"/>
          <p:nvPr/>
        </p:nvSpPr>
        <p:spPr>
          <a:xfrm>
            <a:off x="8412480" y="2770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R$ 9,5 mi</a:t>
            </a:r>
            <a:endParaRPr lang="en-US" sz="2800" dirty="0"/>
          </a:p>
        </p:txBody>
      </p:sp>
      <p:sp>
        <p:nvSpPr>
          <p:cNvPr id="8" name="t-119"/>
          <p:cNvSpPr txBox="1"/>
          <p:nvPr/>
        </p:nvSpPr>
        <p:spPr>
          <a:xfrm>
            <a:off x="841248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receita líquida (tributos de 22%)</a:t>
            </a:r>
            <a:endParaRPr lang="en-US" sz="1400" dirty="0"/>
          </a:p>
        </p:txBody>
      </p:sp>
      <p:sp>
        <p:nvSpPr>
          <p:cNvPr id="9" name="t-120"/>
          <p:cNvSpPr txBox="1"/>
          <p:nvPr/>
        </p:nvSpPr>
        <p:spPr>
          <a:xfrm>
            <a:off x="8412480" y="3758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800" dirty="0"/>
          </a:p>
        </p:txBody>
      </p:sp>
      <p:sp>
        <p:nvSpPr>
          <p:cNvPr id="10" name="t-121"/>
          <p:cNvSpPr txBox="1"/>
          <p:nvPr/>
        </p:nvSpPr>
        <p:spPr>
          <a:xfrm>
            <a:off x="8412480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 receita vem de Contratos</a:t>
            </a:r>
            <a:endParaRPr lang="en-US" sz="1400" dirty="0"/>
          </a:p>
        </p:txBody>
      </p:sp>
      <p:sp>
        <p:nvSpPr>
          <p:cNvPr id="11" name="t-122"/>
          <p:cNvSpPr txBox="1"/>
          <p:nvPr/>
        </p:nvSpPr>
        <p:spPr>
          <a:xfrm>
            <a:off x="8412480" y="47457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~R$ 16,9 mi</a:t>
            </a:r>
            <a:endParaRPr lang="en-US" sz="2800" dirty="0"/>
          </a:p>
        </p:txBody>
      </p:sp>
      <p:sp>
        <p:nvSpPr>
          <p:cNvPr id="12" name="t-123"/>
          <p:cNvSpPr txBox="1"/>
          <p:nvPr/>
        </p:nvSpPr>
        <p:spPr>
          <a:xfrm>
            <a:off x="8412480" y="5248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 de saída (MRR de dez × 12)</a:t>
            </a:r>
            <a:endParaRPr lang="en-US" sz="1400" dirty="0"/>
          </a:p>
        </p:txBody>
      </p:sp>
      <p:sp>
        <p:nvSpPr>
          <p:cNvPr id="13" name="nota-12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A receita de Contratos é faturada sobre a base do mês anterior. Tributos sobre vendas de 22% (pós-reforma tributária).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DRE 2027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EBITDA de R$ 4,6 mi antes de COGS e lucro de R$ 3,6 mi</a:t>
            </a:r>
            <a:endParaRPr lang="en-US" sz="2800" dirty="0"/>
          </a:p>
        </p:txBody>
      </p:sp>
      <p:graphicFrame>
        <p:nvGraphicFramePr>
          <p:cNvPr id="14" name="dre-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71600"/>
                <a:gridCol w="137160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R$ mil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1T27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2T27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3T27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4T27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2027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Receita bruta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2.239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2.534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3.281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4.074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12.128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(−) Tributos sobre vendas (22%)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(493)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(558)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(722)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(896)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(2.668)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Receita líquida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1.746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1.977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2.559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3.178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9.460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(−) Vendas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(126)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(252)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(378)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(378)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(1.134)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(−) Marketing (mídia, eventos e folha)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(126)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(389)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(397)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(180)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(1.092)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(−) P&amp;D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(646)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(646)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(646)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(646)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(2.585)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(−) G&amp;A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(10)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(10)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(10)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(10)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(40)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(−) COGS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</a:rPr>
                        <a:t>a definir — ver sensibilidade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EBITDA antes de COGS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838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679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1.128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1.963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4.608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Margem EBITDA (% receita bruta)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38%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(−) IRPJ + CSLL (22%)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(184)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(149)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(248)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(432)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(1.014)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654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530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880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1.531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3.595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3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a-126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Inclui a folha do Growth Engineer e do Data Engineer (R$ 360 mil/ano cada, pós-encargos), previstas no plano mas fora do total da planilha.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CUSTOS E MARGEM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P&amp;D é custo fixo: margem EBITDA sobe de 37% para 49%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675120" y="169164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nota-12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P&amp;D responde por 53% do opex. A queda de maio (18%) vem dos R$ 150 mil em eventos do mês.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Cada contrato paga seu CAC em cerca de 3,5 meses</a:t>
            </a:r>
            <a:endParaRPr lang="en-US" sz="2800" dirty="0"/>
          </a:p>
        </p:txBody>
      </p:sp>
      <p:sp>
        <p:nvSpPr>
          <p:cNvPr id="4" name="card-128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-num-129"/>
          <p:cNvSpPr txBox="1"/>
          <p:nvPr/>
        </p:nvSpPr>
        <p:spPr>
          <a:xfrm>
            <a:off x="77724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R$ 4,4 mil</a:t>
            </a:r>
            <a:endParaRPr lang="en-US" sz="2800" dirty="0"/>
          </a:p>
        </p:txBody>
      </p:sp>
      <p:sp>
        <p:nvSpPr>
          <p:cNvPr id="6" name="stat-label-130"/>
          <p:cNvSpPr txBox="1"/>
          <p:nvPr/>
        </p:nvSpPr>
        <p:spPr>
          <a:xfrm>
            <a:off x="777240" y="2633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CAC</a:t>
            </a:r>
            <a:endParaRPr lang="en-US" sz="1500" dirty="0"/>
          </a:p>
        </p:txBody>
      </p:sp>
      <p:sp>
        <p:nvSpPr>
          <p:cNvPr id="7" name="stat-sub-131"/>
          <p:cNvSpPr txBox="1"/>
          <p:nvPr/>
        </p:nvSpPr>
        <p:spPr>
          <a:xfrm>
            <a:off x="777240" y="3017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Vendas + marketing ÷ 501 novos contratos</a:t>
            </a:r>
            <a:endParaRPr lang="en-US" sz="1200" dirty="0"/>
          </a:p>
        </p:txBody>
      </p:sp>
      <p:sp>
        <p:nvSpPr>
          <p:cNvPr id="8" name="card-132"/>
          <p:cNvSpPr/>
          <p:nvPr/>
        </p:nvSpPr>
        <p:spPr>
          <a:xfrm>
            <a:off x="3367735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-num-133"/>
          <p:cNvSpPr txBox="1"/>
          <p:nvPr/>
        </p:nvSpPr>
        <p:spPr>
          <a:xfrm>
            <a:off x="3596335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R$ 63 mil</a:t>
            </a:r>
            <a:endParaRPr lang="en-US" sz="2800" dirty="0"/>
          </a:p>
        </p:txBody>
      </p:sp>
      <p:sp>
        <p:nvSpPr>
          <p:cNvPr id="10" name="stat-label-134"/>
          <p:cNvSpPr txBox="1"/>
          <p:nvPr/>
        </p:nvSpPr>
        <p:spPr>
          <a:xfrm>
            <a:off x="3596335" y="2633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LTV</a:t>
            </a:r>
            <a:endParaRPr lang="en-US" sz="1500" dirty="0"/>
          </a:p>
        </p:txBody>
      </p:sp>
      <p:sp>
        <p:nvSpPr>
          <p:cNvPr id="11" name="stat-sub-135"/>
          <p:cNvSpPr txBox="1"/>
          <p:nvPr/>
        </p:nvSpPr>
        <p:spPr>
          <a:xfrm>
            <a:off x="3596335" y="3017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R$ 1.800 × margem de contribuição de 70% ÷ churn de 2%</a:t>
            </a:r>
            <a:endParaRPr lang="en-US" sz="1200" dirty="0"/>
          </a:p>
        </p:txBody>
      </p:sp>
      <p:sp>
        <p:nvSpPr>
          <p:cNvPr id="12" name="card-136"/>
          <p:cNvSpPr/>
          <p:nvPr/>
        </p:nvSpPr>
        <p:spPr>
          <a:xfrm>
            <a:off x="6186830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num-137"/>
          <p:cNvSpPr txBox="1"/>
          <p:nvPr/>
        </p:nvSpPr>
        <p:spPr>
          <a:xfrm>
            <a:off x="641543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14x</a:t>
            </a:r>
            <a:endParaRPr lang="en-US" sz="2800" dirty="0"/>
          </a:p>
        </p:txBody>
      </p:sp>
      <p:sp>
        <p:nvSpPr>
          <p:cNvPr id="14" name="stat-label-138"/>
          <p:cNvSpPr txBox="1"/>
          <p:nvPr/>
        </p:nvSpPr>
        <p:spPr>
          <a:xfrm>
            <a:off x="6415430" y="2633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LTV / CAC</a:t>
            </a:r>
            <a:endParaRPr lang="en-US" sz="1500" dirty="0"/>
          </a:p>
        </p:txBody>
      </p:sp>
      <p:sp>
        <p:nvSpPr>
          <p:cNvPr id="15" name="stat-sub-139"/>
          <p:cNvSpPr txBox="1"/>
          <p:nvPr/>
        </p:nvSpPr>
        <p:spPr>
          <a:xfrm>
            <a:off x="6415430" y="3017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Referência de mercado para SaaS B2B: &gt; 3x</a:t>
            </a:r>
            <a:endParaRPr lang="en-US" sz="1200" dirty="0"/>
          </a:p>
        </p:txBody>
      </p:sp>
      <p:sp>
        <p:nvSpPr>
          <p:cNvPr id="16" name="card-140"/>
          <p:cNvSpPr/>
          <p:nvPr/>
        </p:nvSpPr>
        <p:spPr>
          <a:xfrm>
            <a:off x="9005926" y="1737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at-num-141"/>
          <p:cNvSpPr txBox="1"/>
          <p:nvPr/>
        </p:nvSpPr>
        <p:spPr>
          <a:xfrm>
            <a:off x="9234526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meses</a:t>
            </a:r>
            <a:endParaRPr lang="en-US" sz="2800" dirty="0"/>
          </a:p>
        </p:txBody>
      </p:sp>
      <p:sp>
        <p:nvSpPr>
          <p:cNvPr id="18" name="stat-label-142"/>
          <p:cNvSpPr txBox="1"/>
          <p:nvPr/>
        </p:nvSpPr>
        <p:spPr>
          <a:xfrm>
            <a:off x="9234526" y="2633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Payback do CAC</a:t>
            </a:r>
            <a:endParaRPr lang="en-US" sz="1500" dirty="0"/>
          </a:p>
        </p:txBody>
      </p:sp>
      <p:sp>
        <p:nvSpPr>
          <p:cNvPr id="19" name="stat-sub-143"/>
          <p:cNvSpPr txBox="1"/>
          <p:nvPr/>
        </p:nvSpPr>
        <p:spPr>
          <a:xfrm>
            <a:off x="9234526" y="30175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 ÷ margem de contribuição mensal (R$ 1.260)</a:t>
            </a:r>
            <a:endParaRPr lang="en-US" sz="1200" dirty="0"/>
          </a:p>
        </p:txBody>
      </p:sp>
      <p:sp>
        <p:nvSpPr>
          <p:cNvPr id="20" name="card-144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icon-bg-145"/>
          <p:cNvSpPr/>
          <p:nvPr/>
        </p:nvSpPr>
        <p:spPr>
          <a:xfrm>
            <a:off x="868680" y="44805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-146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4612234"/>
            <a:ext cx="285293" cy="285293"/>
          </a:xfrm>
          <a:prstGeom prst="rect">
            <a:avLst/>
          </a:prstGeom>
        </p:spPr>
      </p:pic>
      <p:sp>
        <p:nvSpPr>
          <p:cNvPr id="23" name="t-147"/>
          <p:cNvSpPr txBox="1"/>
          <p:nvPr/>
        </p:nvSpPr>
        <p:spPr>
          <a:xfrm>
            <a:off x="1645920" y="434340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Teste de estresse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Mesmo atribuindo todo o custo de vendas e marketing só às 339 vendas da operação dedicada, o CAC sobe para R$ 6,6 mil, o payback para 5,2 meses e o LTV/CAC fica em ~10x.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TIME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Time de 13 pessoas em jan/27, chegando a 19 em jul/27</a:t>
            </a:r>
            <a:endParaRPr lang="en-US" sz="2800" dirty="0"/>
          </a:p>
        </p:txBody>
      </p:sp>
      <p:sp>
        <p:nvSpPr>
          <p:cNvPr id="4" name="card-148"/>
          <p:cNvSpPr/>
          <p:nvPr/>
        </p:nvSpPr>
        <p:spPr>
          <a:xfrm>
            <a:off x="548640" y="1737360"/>
            <a:ext cx="3520440" cy="3611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bg-149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15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-151"/>
          <p:cNvSpPr txBox="1"/>
          <p:nvPr/>
        </p:nvSpPr>
        <p:spPr>
          <a:xfrm>
            <a:off x="16002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P&amp;D</a:t>
            </a:r>
            <a:endParaRPr lang="en-US" sz="2200" dirty="0"/>
          </a:p>
        </p:txBody>
      </p:sp>
      <p:sp>
        <p:nvSpPr>
          <p:cNvPr id="8" name="t-152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pessoas</a:t>
            </a:r>
            <a:endParaRPr lang="en-US" sz="2400" dirty="0"/>
          </a:p>
        </p:txBody>
      </p:sp>
      <p:sp>
        <p:nvSpPr>
          <p:cNvPr id="9" name="t-153"/>
          <p:cNvSpPr txBox="1"/>
          <p:nvPr/>
        </p:nvSpPr>
        <p:spPr>
          <a:xfrm>
            <a:off x="8229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R$ 2,59 mi/ano</a:t>
            </a:r>
            <a:endParaRPr lang="en-US" sz="1400" dirty="0"/>
          </a:p>
        </p:txBody>
      </p:sp>
      <p:sp>
        <p:nvSpPr>
          <p:cNvPr id="10" name="t-154"/>
          <p:cNvSpPr txBox="1"/>
          <p:nvPr/>
        </p:nvSpPr>
        <p:spPr>
          <a:xfrm>
            <a:off x="822960" y="3703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Tech Manager II, Associate PM, 3 devs (Jr, Pl, Especialista), QA Pleno, 2 Suporte Técnico (Jr, Pl) e Data Engineer Sênior</a:t>
            </a:r>
            <a:endParaRPr lang="en-US" sz="1300" dirty="0"/>
          </a:p>
        </p:txBody>
      </p:sp>
      <p:sp>
        <p:nvSpPr>
          <p:cNvPr id="11" name="card-155"/>
          <p:cNvSpPr/>
          <p:nvPr/>
        </p:nvSpPr>
        <p:spPr>
          <a:xfrm>
            <a:off x="4343400" y="1737360"/>
            <a:ext cx="3520440" cy="3611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bg-156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157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119579"/>
            <a:ext cx="332842" cy="332842"/>
          </a:xfrm>
          <a:prstGeom prst="rect">
            <a:avLst/>
          </a:prstGeom>
        </p:spPr>
      </p:pic>
      <p:sp>
        <p:nvSpPr>
          <p:cNvPr id="14" name="t-158"/>
          <p:cNvSpPr txBox="1"/>
          <p:nvPr/>
        </p:nvSpPr>
        <p:spPr>
          <a:xfrm>
            <a:off x="539496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Vendas</a:t>
            </a:r>
            <a:endParaRPr lang="en-US" sz="2200" dirty="0"/>
          </a:p>
        </p:txBody>
      </p:sp>
      <p:sp>
        <p:nvSpPr>
          <p:cNvPr id="15" name="t-159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→ 6 → 9 pessoas</a:t>
            </a:r>
            <a:endParaRPr lang="en-US" sz="2400" dirty="0"/>
          </a:p>
        </p:txBody>
      </p:sp>
      <p:sp>
        <p:nvSpPr>
          <p:cNvPr id="16" name="t-160"/>
          <p:cNvSpPr txBox="1"/>
          <p:nvPr/>
        </p:nvSpPr>
        <p:spPr>
          <a:xfrm>
            <a:off x="46177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R$ 1,13 mi/ano</a:t>
            </a:r>
            <a:endParaRPr lang="en-US" sz="1400" dirty="0"/>
          </a:p>
        </p:txBody>
      </p:sp>
      <p:sp>
        <p:nvSpPr>
          <p:cNvPr id="17" name="t-161"/>
          <p:cNvSpPr txBox="1"/>
          <p:nvPr/>
        </p:nvSpPr>
        <p:spPr>
          <a:xfrm>
            <a:off x="4617720" y="3703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Sales Specialists dedicados a R$ 7 mil/mês, em três ondas: nov/26, abr/27 e jul/27</a:t>
            </a:r>
            <a:endParaRPr lang="en-US" sz="1300" dirty="0"/>
          </a:p>
        </p:txBody>
      </p:sp>
      <p:sp>
        <p:nvSpPr>
          <p:cNvPr id="18" name="card-162"/>
          <p:cNvSpPr/>
          <p:nvPr/>
        </p:nvSpPr>
        <p:spPr>
          <a:xfrm>
            <a:off x="8138160" y="1737360"/>
            <a:ext cx="3520440" cy="3611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163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164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099" y="2119579"/>
            <a:ext cx="332842" cy="332842"/>
          </a:xfrm>
          <a:prstGeom prst="rect">
            <a:avLst/>
          </a:prstGeom>
        </p:spPr>
      </p:pic>
      <p:sp>
        <p:nvSpPr>
          <p:cNvPr id="21" name="t-165"/>
          <p:cNvSpPr txBox="1"/>
          <p:nvPr/>
        </p:nvSpPr>
        <p:spPr>
          <a:xfrm>
            <a:off x="91897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Marketing</a:t>
            </a:r>
            <a:endParaRPr lang="en-US" sz="2200" dirty="0"/>
          </a:p>
        </p:txBody>
      </p:sp>
      <p:sp>
        <p:nvSpPr>
          <p:cNvPr id="22" name="t-166"/>
          <p:cNvSpPr txBox="1"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pessoa</a:t>
            </a:r>
            <a:endParaRPr lang="en-US" sz="2400" dirty="0"/>
          </a:p>
        </p:txBody>
      </p:sp>
      <p:sp>
        <p:nvSpPr>
          <p:cNvPr id="23" name="t-167"/>
          <p:cNvSpPr txBox="1"/>
          <p:nvPr/>
        </p:nvSpPr>
        <p:spPr>
          <a:xfrm>
            <a:off x="841248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R$ 0,36 mi/ano</a:t>
            </a:r>
            <a:endParaRPr lang="en-US" sz="1400" dirty="0"/>
          </a:p>
        </p:txBody>
      </p:sp>
      <p:sp>
        <p:nvSpPr>
          <p:cNvPr id="24" name="t-168"/>
          <p:cNvSpPr txBox="1"/>
          <p:nvPr/>
        </p:nvSpPr>
        <p:spPr>
          <a:xfrm>
            <a:off x="8412480" y="3703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Growth Engineer Pleno a partir de nov/26, operando mídia paga, eventos e funil</a:t>
            </a:r>
            <a:endParaRPr lang="en-US" sz="1300" dirty="0"/>
          </a:p>
        </p:txBody>
      </p:sp>
      <p:sp>
        <p:nvSpPr>
          <p:cNvPr id="25" name="nota-169"/>
          <p:cNvSpPr txBox="1"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Folha pós-encargos com premissa de encargos de 100% sobre o salário. G&amp;A: R$ 40 mil/ano para dois offsites do time.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03</a:t>
            </a:r>
            <a:endParaRPr lang="en-US" sz="6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31520" y="2880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Riscos e decisões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31520" y="3886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Sensibilidade, riscos do plano e o que precisamos aprovar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SENSIBILIDADE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COGS é a incógnita: a 29,5%, o EBITDA cai para R$ 1,8 mi</a:t>
            </a:r>
            <a:endParaRPr lang="en-US" sz="2800" dirty="0"/>
          </a:p>
        </p:txBody>
      </p:sp>
      <p:sp>
        <p:nvSpPr>
          <p:cNvPr id="4" name="eixo-170"/>
          <p:cNvSpPr/>
          <p:nvPr/>
        </p:nvSpPr>
        <p:spPr>
          <a:xfrm>
            <a:off x="640080" y="5486400"/>
            <a:ext cx="8138160" cy="0"/>
          </a:xfrm>
          <a:prstGeom prst="line">
            <a:avLst/>
          </a:prstGeom>
          <a:noFill/>
          <a:ln w="12700">
            <a:solidFill>
              <a:srgbClr val="E3E8E5"/>
            </a:solidFill>
            <a:prstDash val="solid"/>
          </a:ln>
        </p:spPr>
      </p:sp>
      <p:sp>
        <p:nvSpPr>
          <p:cNvPr id="5" name="barra-171"/>
          <p:cNvSpPr/>
          <p:nvPr/>
        </p:nvSpPr>
        <p:spPr>
          <a:xfrm>
            <a:off x="822960" y="2562977"/>
            <a:ext cx="1005840" cy="292342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-172"/>
          <p:cNvSpPr txBox="1"/>
          <p:nvPr/>
        </p:nvSpPr>
        <p:spPr>
          <a:xfrm>
            <a:off x="640080" y="2197217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5,33</a:t>
            </a:r>
            <a:endParaRPr lang="en-US" sz="1400" dirty="0"/>
          </a:p>
        </p:txBody>
      </p:sp>
      <p:sp>
        <p:nvSpPr>
          <p:cNvPr id="7" name="t-173"/>
          <p:cNvSpPr txBox="1"/>
          <p:nvPr/>
        </p:nvSpPr>
        <p:spPr>
          <a:xfrm>
            <a:off x="731520" y="55595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EBITDA da planilha</a:t>
            </a:r>
            <a:endParaRPr lang="en-US" sz="1100" dirty="0"/>
          </a:p>
        </p:txBody>
      </p:sp>
      <p:sp>
        <p:nvSpPr>
          <p:cNvPr id="8" name="barra-174"/>
          <p:cNvSpPr/>
          <p:nvPr/>
        </p:nvSpPr>
        <p:spPr>
          <a:xfrm>
            <a:off x="2194560" y="2562977"/>
            <a:ext cx="1005840" cy="19751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-175"/>
          <p:cNvSpPr txBox="1"/>
          <p:nvPr/>
        </p:nvSpPr>
        <p:spPr>
          <a:xfrm>
            <a:off x="2011680" y="2197217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−0,36</a:t>
            </a:r>
            <a:endParaRPr lang="en-US" sz="1400" dirty="0"/>
          </a:p>
        </p:txBody>
      </p:sp>
      <p:sp>
        <p:nvSpPr>
          <p:cNvPr id="10" name="t-176"/>
          <p:cNvSpPr txBox="1"/>
          <p:nvPr/>
        </p:nvSpPr>
        <p:spPr>
          <a:xfrm>
            <a:off x="2103120" y="55595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Folha Growth Eng.</a:t>
            </a:r>
            <a:endParaRPr lang="en-US" sz="1100" dirty="0"/>
          </a:p>
        </p:txBody>
      </p:sp>
      <p:sp>
        <p:nvSpPr>
          <p:cNvPr id="11" name="barra-177"/>
          <p:cNvSpPr/>
          <p:nvPr/>
        </p:nvSpPr>
        <p:spPr>
          <a:xfrm>
            <a:off x="3566160" y="2760488"/>
            <a:ext cx="1005840" cy="19751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-178"/>
          <p:cNvSpPr txBox="1"/>
          <p:nvPr/>
        </p:nvSpPr>
        <p:spPr>
          <a:xfrm>
            <a:off x="3383280" y="2394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−0,36</a:t>
            </a:r>
            <a:endParaRPr lang="en-US" sz="1400" dirty="0"/>
          </a:p>
        </p:txBody>
      </p:sp>
      <p:sp>
        <p:nvSpPr>
          <p:cNvPr id="13" name="t-179"/>
          <p:cNvSpPr txBox="1"/>
          <p:nvPr/>
        </p:nvSpPr>
        <p:spPr>
          <a:xfrm>
            <a:off x="3474720" y="55595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Folha Data Eng.</a:t>
            </a:r>
            <a:endParaRPr lang="en-US" sz="1100" dirty="0"/>
          </a:p>
        </p:txBody>
      </p:sp>
      <p:sp>
        <p:nvSpPr>
          <p:cNvPr id="14" name="barra-180"/>
          <p:cNvSpPr/>
          <p:nvPr/>
        </p:nvSpPr>
        <p:spPr>
          <a:xfrm>
            <a:off x="4937760" y="2958000"/>
            <a:ext cx="1005840" cy="2528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-181"/>
          <p:cNvSpPr txBox="1"/>
          <p:nvPr/>
        </p:nvSpPr>
        <p:spPr>
          <a:xfrm>
            <a:off x="4754880" y="2592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4,61</a:t>
            </a:r>
            <a:endParaRPr lang="en-US" sz="1400" dirty="0"/>
          </a:p>
        </p:txBody>
      </p:sp>
      <p:sp>
        <p:nvSpPr>
          <p:cNvPr id="16" name="t-182"/>
          <p:cNvSpPr txBox="1"/>
          <p:nvPr/>
        </p:nvSpPr>
        <p:spPr>
          <a:xfrm>
            <a:off x="4846320" y="55595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EBITDA antes de COGS</a:t>
            </a:r>
            <a:endParaRPr lang="en-US" sz="1100" dirty="0"/>
          </a:p>
        </p:txBody>
      </p:sp>
      <p:sp>
        <p:nvSpPr>
          <p:cNvPr id="17" name="barra-183"/>
          <p:cNvSpPr/>
          <p:nvPr/>
        </p:nvSpPr>
        <p:spPr>
          <a:xfrm>
            <a:off x="6309360" y="2958000"/>
            <a:ext cx="1005840" cy="1531069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-184"/>
          <p:cNvSpPr txBox="1"/>
          <p:nvPr/>
        </p:nvSpPr>
        <p:spPr>
          <a:xfrm>
            <a:off x="6126480" y="2592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−2,79</a:t>
            </a:r>
            <a:endParaRPr lang="en-US" sz="1400" dirty="0"/>
          </a:p>
        </p:txBody>
      </p:sp>
      <p:sp>
        <p:nvSpPr>
          <p:cNvPr id="19" name="t-185"/>
          <p:cNvSpPr txBox="1"/>
          <p:nvPr/>
        </p:nvSpPr>
        <p:spPr>
          <a:xfrm>
            <a:off x="6217920" y="55595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COGS (hipótese 29,5%)</a:t>
            </a:r>
            <a:endParaRPr lang="en-US" sz="1100" dirty="0"/>
          </a:p>
        </p:txBody>
      </p:sp>
      <p:sp>
        <p:nvSpPr>
          <p:cNvPr id="20" name="barra-186"/>
          <p:cNvSpPr/>
          <p:nvPr/>
        </p:nvSpPr>
        <p:spPr>
          <a:xfrm>
            <a:off x="7680960" y="4489069"/>
            <a:ext cx="1005840" cy="997331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-187"/>
          <p:cNvSpPr txBox="1"/>
          <p:nvPr/>
        </p:nvSpPr>
        <p:spPr>
          <a:xfrm>
            <a:off x="7498080" y="4123309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1,82</a:t>
            </a:r>
            <a:endParaRPr lang="en-US" sz="1400" dirty="0"/>
          </a:p>
        </p:txBody>
      </p:sp>
      <p:sp>
        <p:nvSpPr>
          <p:cNvPr id="22" name="t-188"/>
          <p:cNvSpPr txBox="1"/>
          <p:nvPr/>
        </p:nvSpPr>
        <p:spPr>
          <a:xfrm>
            <a:off x="7589520" y="55595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EBITDA com COGS</a:t>
            </a:r>
            <a:endParaRPr lang="en-US" sz="1100" dirty="0"/>
          </a:p>
        </p:txBody>
      </p:sp>
      <p:sp>
        <p:nvSpPr>
          <p:cNvPr id="23" name="t-189"/>
          <p:cNvSpPr txBox="1"/>
          <p:nvPr/>
        </p:nvSpPr>
        <p:spPr>
          <a:xfrm>
            <a:off x="6400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R$ mi, 2027</a:t>
            </a:r>
            <a:endParaRPr lang="en-US" sz="1100" dirty="0"/>
          </a:p>
        </p:txBody>
      </p:sp>
      <p:sp>
        <p:nvSpPr>
          <p:cNvPr id="24" name="card-190"/>
          <p:cNvSpPr/>
          <p:nvPr/>
        </p:nvSpPr>
        <p:spPr>
          <a:xfrm>
            <a:off x="9235440" y="173736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-191"/>
          <p:cNvSpPr txBox="1"/>
          <p:nvPr/>
        </p:nvSpPr>
        <p:spPr>
          <a:xfrm>
            <a:off x="9464040" y="196596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Para fechar até dez/26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GCP por review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New Relic e Cloudflare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E-mail marketing (R$ 0,01/envio)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Rateio de COGS do RA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RISCOS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Quatro riscos principais e como mitigá-los</a:t>
            </a:r>
            <a:endParaRPr lang="en-US" sz="2800" dirty="0"/>
          </a:p>
        </p:txBody>
      </p:sp>
      <p:sp>
        <p:nvSpPr>
          <p:cNvPr id="4" name="card-192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-bg-19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194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40941"/>
            <a:ext cx="261518" cy="261518"/>
          </a:xfrm>
          <a:prstGeom prst="rect">
            <a:avLst/>
          </a:prstGeom>
        </p:spPr>
      </p:pic>
      <p:sp>
        <p:nvSpPr>
          <p:cNvPr id="7" name="t-195"/>
          <p:cNvSpPr txBox="1"/>
          <p:nvPr/>
        </p:nvSpPr>
        <p:spPr>
          <a:xfrm>
            <a:off x="141732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Contratação e ramp-up</a:t>
            </a:r>
            <a:endParaRPr lang="en-US" sz="1700" dirty="0"/>
          </a:p>
        </p:txBody>
      </p:sp>
      <p:sp>
        <p:nvSpPr>
          <p:cNvPr id="8" name="t-196"/>
          <p:cNvSpPr txBox="1"/>
          <p:nvPr/>
        </p:nvSpPr>
        <p:spPr>
          <a:xfrm>
            <a:off x="777240" y="2514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9 Sales Specialists até jul/27, com 2 meses até produtividade plena. Um atraso de onda empurra vendas para o fim do ano, quando a sazonalidade é mais fraca.</a:t>
            </a:r>
            <a:endParaRPr lang="en-US" sz="1250" dirty="0"/>
          </a:p>
        </p:txBody>
      </p:sp>
      <p:sp>
        <p:nvSpPr>
          <p:cNvPr id="9" name="t-197"/>
          <p:cNvSpPr txBox="1"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Mitigação: 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</a:rPr>
              <a:t>Abrir as vagas de abr e jul com 60 dias de antecedência</a:t>
            </a:r>
            <a:endParaRPr lang="en-US" sz="1250" dirty="0"/>
          </a:p>
        </p:txBody>
      </p:sp>
      <p:sp>
        <p:nvSpPr>
          <p:cNvPr id="10" name="card-198"/>
          <p:cNvSpPr/>
          <p:nvPr/>
        </p:nvSpPr>
        <p:spPr>
          <a:xfrm>
            <a:off x="6172200" y="16916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199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200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2040941"/>
            <a:ext cx="261518" cy="261518"/>
          </a:xfrm>
          <a:prstGeom prst="rect">
            <a:avLst/>
          </a:prstGeom>
        </p:spPr>
      </p:pic>
      <p:sp>
        <p:nvSpPr>
          <p:cNvPr id="13" name="t-201"/>
          <p:cNvSpPr txBox="1"/>
          <p:nvPr/>
        </p:nvSpPr>
        <p:spPr>
          <a:xfrm>
            <a:off x="704088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Demanda descasada do calendário</a:t>
            </a:r>
            <a:endParaRPr lang="en-US" sz="1700" dirty="0"/>
          </a:p>
        </p:txBody>
      </p:sp>
      <p:sp>
        <p:nvSpPr>
          <p:cNvPr id="14" name="t-202"/>
          <p:cNvSpPr txBox="1"/>
          <p:nvPr/>
        </p:nvSpPr>
        <p:spPr>
          <a:xfrm>
            <a:off x="6400800" y="2514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1T, o investimento gera ~620 leads contra ~1.180 necessários; eventos concentram 66% do budget entre abr e set.</a:t>
            </a:r>
            <a:endParaRPr lang="en-US" sz="1250" dirty="0"/>
          </a:p>
        </p:txBody>
      </p:sp>
      <p:sp>
        <p:nvSpPr>
          <p:cNvPr id="15" name="t-203"/>
          <p:cNvSpPr txBox="1"/>
          <p:nvPr/>
        </p:nvSpPr>
        <p:spPr>
          <a:xfrm>
            <a:off x="64008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Mitigação: 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</a:rPr>
              <a:t>Antecipar mídia paga para o 1T e usar o pipeline de 2026</a:t>
            </a:r>
            <a:endParaRPr lang="en-US" sz="1250" dirty="0"/>
          </a:p>
        </p:txBody>
      </p:sp>
      <p:sp>
        <p:nvSpPr>
          <p:cNvPr id="16" name="card-204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-bg-20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206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235501"/>
            <a:ext cx="261518" cy="261518"/>
          </a:xfrm>
          <a:prstGeom prst="rect">
            <a:avLst/>
          </a:prstGeom>
        </p:spPr>
      </p:pic>
      <p:sp>
        <p:nvSpPr>
          <p:cNvPr id="19" name="t-207"/>
          <p:cNvSpPr txBox="1"/>
          <p:nvPr/>
        </p:nvSpPr>
        <p:spPr>
          <a:xfrm>
            <a:off x="141732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Churn de contratos</a:t>
            </a:r>
            <a:endParaRPr lang="en-US" sz="1700" dirty="0"/>
          </a:p>
        </p:txBody>
      </p:sp>
      <p:sp>
        <p:nvSpPr>
          <p:cNvPr id="20" name="t-208"/>
          <p:cNvSpPr txBox="1"/>
          <p:nvPr/>
        </p:nvSpPr>
        <p:spPr>
          <a:xfrm>
            <a:off x="77724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plano assume churn de 2% ao mês. A 3%, terminamos com ~713 contratos (−57) e ~R$ 0,5 mi a menos de receita.</a:t>
            </a:r>
            <a:endParaRPr lang="en-US" sz="1250" dirty="0"/>
          </a:p>
        </p:txBody>
      </p:sp>
      <p:sp>
        <p:nvSpPr>
          <p:cNvPr id="21" name="t-209"/>
          <p:cNvSpPr txBox="1"/>
          <p:nvPr/>
        </p:nvSpPr>
        <p:spPr>
          <a:xfrm>
            <a:off x="77724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Mitigação: 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</a:rPr>
              <a:t>Meta de retenção por coorte e CS dedicado aos primeiros 90 dias</a:t>
            </a:r>
            <a:endParaRPr lang="en-US" sz="1250" dirty="0"/>
          </a:p>
        </p:txBody>
      </p:sp>
      <p:sp>
        <p:nvSpPr>
          <p:cNvPr id="22" name="card-210"/>
          <p:cNvSpPr/>
          <p:nvPr/>
        </p:nvSpPr>
        <p:spPr>
          <a:xfrm>
            <a:off x="6172200" y="38862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-bg-211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-212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4235501"/>
            <a:ext cx="261518" cy="261518"/>
          </a:xfrm>
          <a:prstGeom prst="rect">
            <a:avLst/>
          </a:prstGeom>
        </p:spPr>
      </p:pic>
      <p:sp>
        <p:nvSpPr>
          <p:cNvPr id="25" name="t-213"/>
          <p:cNvSpPr txBox="1"/>
          <p:nvPr/>
        </p:nvSpPr>
        <p:spPr>
          <a:xfrm>
            <a:off x="704088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Dependência da operação compartilhada</a:t>
            </a:r>
            <a:endParaRPr lang="en-US" sz="1700" dirty="0"/>
          </a:p>
        </p:txBody>
      </p:sp>
      <p:sp>
        <p:nvSpPr>
          <p:cNvPr id="26" name="t-214"/>
          <p:cNvSpPr txBox="1"/>
          <p:nvPr/>
        </p:nvSpPr>
        <p:spPr>
          <a:xfrm>
            <a:off x="640080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32% das vendas vêm de um time sem custo alocado e com foco dividido; o Checkout encolhe 47% no ano.</a:t>
            </a:r>
            <a:endParaRPr lang="en-US" sz="1250" dirty="0"/>
          </a:p>
        </p:txBody>
      </p:sp>
      <p:sp>
        <p:nvSpPr>
          <p:cNvPr id="27" name="t-215"/>
          <p:cNvSpPr txBox="1"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Mitigação: 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</a:rPr>
              <a:t>Meta e incentivo explícitos de Reviews para o time compartilhado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 que precisamos aprovar</a:t>
            </a:r>
            <a:endParaRPr lang="en-US" sz="2800" dirty="0"/>
          </a:p>
        </p:txBody>
      </p:sp>
      <p:sp>
        <p:nvSpPr>
          <p:cNvPr id="4" name="num-216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-217"/>
          <p:cNvSpPr txBox="1"/>
          <p:nvPr/>
        </p:nvSpPr>
        <p:spPr>
          <a:xfrm>
            <a:off x="5486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-218"/>
          <p:cNvSpPr txBox="1"/>
          <p:nvPr/>
        </p:nvSpPr>
        <p:spPr>
          <a:xfrm>
            <a:off x="1508760" y="17647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Budget 2027</a:t>
            </a:r>
            <a:endParaRPr lang="en-US" sz="2000" dirty="0"/>
          </a:p>
        </p:txBody>
      </p:sp>
      <p:sp>
        <p:nvSpPr>
          <p:cNvPr id="7" name="t-219"/>
          <p:cNvSpPr txBox="1"/>
          <p:nvPr/>
        </p:nvSpPr>
        <p:spPr>
          <a:xfrm>
            <a:off x="1508760" y="21488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R$ 4,9 mi de opex para gerar R$ 12,1 mi de receita bruta e R$ 4,6 mi de EBITDA antes de COGS</a:t>
            </a:r>
            <a:endParaRPr lang="en-US" sz="1500" dirty="0"/>
          </a:p>
        </p:txBody>
      </p:sp>
      <p:sp>
        <p:nvSpPr>
          <p:cNvPr id="8" name="num-220"/>
          <p:cNvSpPr/>
          <p:nvPr/>
        </p:nvSpPr>
        <p:spPr>
          <a:xfrm>
            <a:off x="548640" y="286207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-221"/>
          <p:cNvSpPr txBox="1"/>
          <p:nvPr/>
        </p:nvSpPr>
        <p:spPr>
          <a:xfrm>
            <a:off x="548640" y="2862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-222"/>
          <p:cNvSpPr txBox="1"/>
          <p:nvPr/>
        </p:nvSpPr>
        <p:spPr>
          <a:xfrm>
            <a:off x="1508760" y="28437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Plano de contratação</a:t>
            </a:r>
            <a:endParaRPr lang="en-US" sz="2000" dirty="0"/>
          </a:p>
        </p:txBody>
      </p:sp>
      <p:sp>
        <p:nvSpPr>
          <p:cNvPr id="11" name="t-223"/>
          <p:cNvSpPr txBox="1"/>
          <p:nvPr/>
        </p:nvSpPr>
        <p:spPr>
          <a:xfrm>
            <a:off x="1508760" y="32278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Nov/26: 3 Sales Specialists, Growth Engineer e Data Engineer · Abr/27: +3 SS · Jul/27: +3 SS</a:t>
            </a:r>
            <a:endParaRPr lang="en-US" sz="1500" dirty="0"/>
          </a:p>
        </p:txBody>
      </p:sp>
      <p:sp>
        <p:nvSpPr>
          <p:cNvPr id="12" name="num-224"/>
          <p:cNvSpPr/>
          <p:nvPr/>
        </p:nvSpPr>
        <p:spPr>
          <a:xfrm>
            <a:off x="548640" y="394106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-225"/>
          <p:cNvSpPr txBox="1"/>
          <p:nvPr/>
        </p:nvSpPr>
        <p:spPr>
          <a:xfrm>
            <a:off x="548640" y="39410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-226"/>
          <p:cNvSpPr txBox="1"/>
          <p:nvPr/>
        </p:nvSpPr>
        <p:spPr>
          <a:xfrm>
            <a:off x="1508760" y="39227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Calendário de marketing</a:t>
            </a:r>
            <a:endParaRPr lang="en-US" sz="2000" dirty="0"/>
          </a:p>
        </p:txBody>
      </p:sp>
      <p:sp>
        <p:nvSpPr>
          <p:cNvPr id="15" name="t-227"/>
          <p:cNvSpPr txBox="1"/>
          <p:nvPr/>
        </p:nvSpPr>
        <p:spPr>
          <a:xfrm>
            <a:off x="1508760" y="430682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R$ 252 mil de mídia paga e R$ 480 mil em eventos entre abr e set, com CPL máximo de R$ 58</a:t>
            </a:r>
            <a:endParaRPr lang="en-US" sz="1500" dirty="0"/>
          </a:p>
        </p:txBody>
      </p:sp>
      <p:sp>
        <p:nvSpPr>
          <p:cNvPr id="16" name="num-228"/>
          <p:cNvSpPr/>
          <p:nvPr/>
        </p:nvSpPr>
        <p:spPr>
          <a:xfrm>
            <a:off x="548640" y="5020056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-229"/>
          <p:cNvSpPr txBox="1"/>
          <p:nvPr/>
        </p:nvSpPr>
        <p:spPr>
          <a:xfrm>
            <a:off x="548640" y="50200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-230"/>
          <p:cNvSpPr txBox="1"/>
          <p:nvPr/>
        </p:nvSpPr>
        <p:spPr>
          <a:xfrm>
            <a:off x="1508760" y="50017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Fechar até dez/26</a:t>
            </a:r>
            <a:endParaRPr lang="en-US" sz="2000" dirty="0"/>
          </a:p>
        </p:txBody>
      </p:sp>
      <p:sp>
        <p:nvSpPr>
          <p:cNvPr id="19" name="t-231"/>
          <p:cNvSpPr txBox="1"/>
          <p:nvPr/>
        </p:nvSpPr>
        <p:spPr>
          <a:xfrm>
            <a:off x="1508760" y="538581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COGS real (infra por review, e-mail), margem de contribuição e meta de churn por coorte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APÊNDICE 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Premissas do modelo</a:t>
            </a:r>
            <a:endParaRPr lang="en-US" sz="2800" dirty="0"/>
          </a:p>
        </p:txBody>
      </p:sp>
      <p:graphicFrame>
        <p:nvGraphicFramePr>
          <p:cNvPr id="22" name="premissas-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5303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Tema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Premissa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Comercial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Produtividade dedicado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0,25 venda/dia útil (5/mês)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Comercial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Produtividade compartilhado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0,1 venda/dia útil (2/mês)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Comercial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Ramp-up do vendedor novo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M1 0% · M2 50% · M3 100%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Comercial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Ganho de produtividade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M1 5% · M2 10% · M3 15% · M4 20%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Comercial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Sazonalidade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jan e dez 25% · fev e nov 50% · demais 100%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Funil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Conversões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Lead → qualificado 20% · qualificado → contrato 20%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Funil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CPL máximo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R$ 58 (investimento ÷ leads necessários)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Clientes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Churn mensal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Contratos 2,0% · Checkout 5,2%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Receita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ARPU mensal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Contratos R$ 1.800 · Checkout R$ 76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Receita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Tributos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22% sobre vendas · IRPJ + CSLL 22%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Custos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Encargos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 sobre o salário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E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APÊNDICE B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Ajustes feitos sobre a planilha para esta apresentação</a:t>
            </a:r>
            <a:endParaRPr lang="en-US" sz="2800" dirty="0"/>
          </a:p>
        </p:txBody>
      </p:sp>
      <p:sp>
        <p:nvSpPr>
          <p:cNvPr id="4" name="card-233"/>
          <p:cNvSpPr/>
          <p:nvPr/>
        </p:nvSpPr>
        <p:spPr>
          <a:xfrm>
            <a:off x="548640" y="16916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-234"/>
          <p:cNvSpPr txBox="1"/>
          <p:nvPr/>
        </p:nvSpPr>
        <p:spPr>
          <a:xfrm>
            <a:off x="777240" y="1828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Folha fora do total</a:t>
            </a:r>
            <a:endParaRPr lang="en-US" sz="1500" dirty="0"/>
          </a:p>
        </p:txBody>
      </p:sp>
      <p:sp>
        <p:nvSpPr>
          <p:cNvPr id="6" name="t-235"/>
          <p:cNvSpPr txBox="1"/>
          <p:nvPr/>
        </p:nvSpPr>
        <p:spPr>
          <a:xfrm>
            <a:off x="777240" y="21762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Growth Engineer (Marketing) e Data Engineer (P&amp;D) estão listados, mas não entram nas folhas totais nem no EBITDA. Incluídos aqui: −R$ 720 mil/ano.</a:t>
            </a:r>
            <a:endParaRPr lang="en-US" sz="1200" dirty="0"/>
          </a:p>
        </p:txBody>
      </p:sp>
      <p:sp>
        <p:nvSpPr>
          <p:cNvPr id="7" name="card-236"/>
          <p:cNvSpPr/>
          <p:nvPr/>
        </p:nvSpPr>
        <p:spPr>
          <a:xfrm>
            <a:off x="6172200" y="169164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-237"/>
          <p:cNvSpPr txBox="1"/>
          <p:nvPr/>
        </p:nvSpPr>
        <p:spPr>
          <a:xfrm>
            <a:off x="6400800" y="18288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COGS zerado</a:t>
            </a:r>
            <a:endParaRPr lang="en-US" sz="1500" dirty="0"/>
          </a:p>
        </p:txBody>
      </p:sp>
      <p:sp>
        <p:nvSpPr>
          <p:cNvPr id="9" name="t-238"/>
          <p:cNvSpPr txBox="1"/>
          <p:nvPr/>
        </p:nvSpPr>
        <p:spPr>
          <a:xfrm>
            <a:off x="6400800" y="21762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GCP, New Relic, Cloudflare e e-mail sem valores; a nota de 29,5% de COGS do RA não foi aplicada. Tratado como sensibilidade.</a:t>
            </a:r>
            <a:endParaRPr lang="en-US" sz="1200" dirty="0"/>
          </a:p>
        </p:txBody>
      </p:sp>
      <p:sp>
        <p:nvSpPr>
          <p:cNvPr id="10" name="card-239"/>
          <p:cNvSpPr/>
          <p:nvPr/>
        </p:nvSpPr>
        <p:spPr>
          <a:xfrm>
            <a:off x="548640" y="31089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-240"/>
          <p:cNvSpPr txBox="1"/>
          <p:nvPr/>
        </p:nvSpPr>
        <p:spPr>
          <a:xfrm>
            <a:off x="77724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Reviews de Checkout</a:t>
            </a:r>
            <a:endParaRPr lang="en-US" sz="1500" dirty="0"/>
          </a:p>
        </p:txBody>
      </p:sp>
      <p:sp>
        <p:nvSpPr>
          <p:cNvPr id="12" name="t-241"/>
          <p:cNvSpPr txBox="1"/>
          <p:nvPr/>
        </p:nvSpPr>
        <p:spPr>
          <a:xfrm>
            <a:off x="777240" y="35935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fórmula usa a base total de clientes, não a de Checkout (209 mil vs. ~78 mil no ano), e os subtotais por modelo somam só parte dos meses. Corrigido: ~5,4 mi no ano.</a:t>
            </a:r>
            <a:endParaRPr lang="en-US" sz="1200" dirty="0"/>
          </a:p>
        </p:txBody>
      </p:sp>
      <p:sp>
        <p:nvSpPr>
          <p:cNvPr id="13" name="card-242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-243"/>
          <p:cNvSpPr txBox="1"/>
          <p:nvPr/>
        </p:nvSpPr>
        <p:spPr>
          <a:xfrm>
            <a:off x="640080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Margens anuais</a:t>
            </a:r>
            <a:endParaRPr lang="en-US" sz="1500" dirty="0"/>
          </a:p>
        </p:txBody>
      </p:sp>
      <p:sp>
        <p:nvSpPr>
          <p:cNvPr id="15" name="t-244"/>
          <p:cNvSpPr txBox="1"/>
          <p:nvPr/>
        </p:nvSpPr>
        <p:spPr>
          <a:xfrm>
            <a:off x="6400800" y="35935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 colunas de total de margem EBITDA (53%) e líquida (42%) repetem dezembro. Aqui: média do ano sobre a receita bruta.</a:t>
            </a:r>
            <a:endParaRPr lang="en-US" sz="1200" dirty="0"/>
          </a:p>
        </p:txBody>
      </p:sp>
      <p:sp>
        <p:nvSpPr>
          <p:cNvPr id="16" name="card-245"/>
          <p:cNvSpPr/>
          <p:nvPr/>
        </p:nvSpPr>
        <p:spPr>
          <a:xfrm>
            <a:off x="548640" y="45262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-246"/>
          <p:cNvSpPr txBox="1"/>
          <p:nvPr/>
        </p:nvSpPr>
        <p:spPr>
          <a:xfrm>
            <a:off x="777240" y="4663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Headcount</a:t>
            </a:r>
            <a:endParaRPr lang="en-US" sz="1500" dirty="0"/>
          </a:p>
        </p:txBody>
      </p:sp>
      <p:sp>
        <p:nvSpPr>
          <p:cNvPr id="18" name="t-247"/>
          <p:cNvSpPr txBox="1"/>
          <p:nvPr/>
        </p:nvSpPr>
        <p:spPr>
          <a:xfrm>
            <a:off x="777240" y="50109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linha de headcount mostra 11 → 17 e omite Growth Engineer e Data Engineer. Aqui: 13 → 19.</a:t>
            </a:r>
            <a:endParaRPr lang="en-US" sz="1200" dirty="0"/>
          </a:p>
        </p:txBody>
      </p:sp>
      <p:sp>
        <p:nvSpPr>
          <p:cNvPr id="19" name="card-248"/>
          <p:cNvSpPr/>
          <p:nvPr/>
        </p:nvSpPr>
        <p:spPr>
          <a:xfrm>
            <a:off x="6172200" y="45262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-249"/>
          <p:cNvSpPr txBox="1"/>
          <p:nvPr/>
        </p:nvSpPr>
        <p:spPr>
          <a:xfrm>
            <a:off x="6400800" y="4663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Erros de referência</a:t>
            </a:r>
            <a:endParaRPr lang="en-US" sz="1500" dirty="0"/>
          </a:p>
        </p:txBody>
      </p:sp>
      <p:sp>
        <p:nvSpPr>
          <p:cNvPr id="21" name="t-250"/>
          <p:cNvSpPr txBox="1"/>
          <p:nvPr/>
        </p:nvSpPr>
        <p:spPr>
          <a:xfrm>
            <a:off x="6400800" y="50109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#REF! em dez/27 (ARPAC, payback de contratos e aba Gráficos deck); a coluna de SQLs da aba Gráficos deck não bate com o modelo.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ews 2027">
  <a:themeElements>
    <a:clrScheme name="Reviews 2027">
      <a:dk1>
        <a:srgbClr val="1B2420"/>
      </a:dk1>
      <a:lt1>
        <a:srgbClr val="FFFFFF"/>
      </a:lt1>
      <a:dk2>
        <a:srgbClr val="003330"/>
      </a:dk2>
      <a:lt2>
        <a:srgbClr val="E6F1EB"/>
      </a:lt2>
      <a:accent1>
        <a:srgbClr val="007535"/>
      </a:accent1>
      <a:accent2>
        <a:srgbClr val="90B823"/>
      </a:accent2>
      <a:accent3>
        <a:srgbClr val="5CA77E"/>
      </a:accent3>
      <a:accent4>
        <a:srgbClr val="D99A00"/>
      </a:accent4>
      <a:accent5>
        <a:srgbClr val="8AC0A2"/>
      </a:accent5>
      <a:accent6>
        <a:srgbClr val="B83A26"/>
      </a:accent6>
      <a:hlink>
        <a:srgbClr val="007535"/>
      </a:hlink>
      <a:folHlink>
        <a:srgbClr val="005931"/>
      </a:folHlink>
    </a:clrScheme>
    <a:fontScheme name="Reviews 2027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Plan Reviews 2027</dc:title>
  <dc:subject>PptxGenJS Presentation</dc:subject>
  <dc:creator>Reviews · Reclame AQUI</dc:creator>
  <cp:lastModifiedBy>Reviews · Reclame AQUI</cp:lastModifiedBy>
  <cp:revision>1</cp:revision>
  <dcterms:created xsi:type="dcterms:W3CDTF">2026-10-13T14:50:47Z</dcterms:created>
  <dcterms:modified xsi:type="dcterms:W3CDTF">2026-10-13T14:50:47Z</dcterms:modified>
</cp:coreProperties>
</file>